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  <p:embeddedFont>
      <p:font typeface="Consolas" charset="1" panose="020B0609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03117" y="5971127"/>
            <a:ext cx="192176" cy="960872"/>
            <a:chOff x="0" y="0"/>
            <a:chExt cx="256235" cy="1281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159" cy="1281176"/>
            </a:xfrm>
            <a:custGeom>
              <a:avLst/>
              <a:gdLst/>
              <a:ahLst/>
              <a:cxnLst/>
              <a:rect r="r" b="b" t="t" l="l"/>
              <a:pathLst>
                <a:path h="1281176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1250442"/>
                  </a:lnTo>
                  <a:cubicBezTo>
                    <a:pt x="256159" y="1267460"/>
                    <a:pt x="242443" y="1281176"/>
                    <a:pt x="225425" y="1281176"/>
                  </a:cubicBezTo>
                  <a:lnTo>
                    <a:pt x="30734" y="1281176"/>
                  </a:lnTo>
                  <a:cubicBezTo>
                    <a:pt x="13716" y="1281176"/>
                    <a:pt x="0" y="1267333"/>
                    <a:pt x="0" y="1250442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01196" y="5627961"/>
            <a:ext cx="192176" cy="1647206"/>
            <a:chOff x="0" y="0"/>
            <a:chExt cx="256235" cy="2196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159" cy="2196211"/>
            </a:xfrm>
            <a:custGeom>
              <a:avLst/>
              <a:gdLst/>
              <a:ahLst/>
              <a:cxnLst/>
              <a:rect r="r" b="b" t="t" l="l"/>
              <a:pathLst>
                <a:path h="2196211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2165477"/>
                  </a:lnTo>
                  <a:cubicBezTo>
                    <a:pt x="256159" y="2182495"/>
                    <a:pt x="242443" y="2196211"/>
                    <a:pt x="225425" y="2196211"/>
                  </a:cubicBezTo>
                  <a:lnTo>
                    <a:pt x="30734" y="2196211"/>
                  </a:lnTo>
                  <a:cubicBezTo>
                    <a:pt x="13716" y="2196211"/>
                    <a:pt x="0" y="2182495"/>
                    <a:pt x="0" y="2165477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699274" y="5833853"/>
            <a:ext cx="192176" cy="1235402"/>
            <a:chOff x="0" y="0"/>
            <a:chExt cx="256235" cy="1647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159" cy="1647190"/>
            </a:xfrm>
            <a:custGeom>
              <a:avLst/>
              <a:gdLst/>
              <a:ahLst/>
              <a:cxnLst/>
              <a:rect r="r" b="b" t="t" l="l"/>
              <a:pathLst>
                <a:path h="1647190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1616456"/>
                  </a:lnTo>
                  <a:cubicBezTo>
                    <a:pt x="256159" y="1633474"/>
                    <a:pt x="242443" y="1647190"/>
                    <a:pt x="225425" y="1647190"/>
                  </a:cubicBezTo>
                  <a:lnTo>
                    <a:pt x="30734" y="1647190"/>
                  </a:lnTo>
                  <a:cubicBezTo>
                    <a:pt x="13716" y="1647190"/>
                    <a:pt x="0" y="1633474"/>
                    <a:pt x="0" y="1616456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097343" y="5319103"/>
            <a:ext cx="192176" cy="2264912"/>
            <a:chOff x="0" y="0"/>
            <a:chExt cx="256235" cy="3019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159" cy="3019806"/>
            </a:xfrm>
            <a:custGeom>
              <a:avLst/>
              <a:gdLst/>
              <a:ahLst/>
              <a:cxnLst/>
              <a:rect r="r" b="b" t="t" l="l"/>
              <a:pathLst>
                <a:path h="3019806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2989072"/>
                  </a:lnTo>
                  <a:cubicBezTo>
                    <a:pt x="256159" y="3006090"/>
                    <a:pt x="242443" y="3019806"/>
                    <a:pt x="225425" y="3019806"/>
                  </a:cubicBezTo>
                  <a:lnTo>
                    <a:pt x="30734" y="3019806"/>
                  </a:lnTo>
                  <a:cubicBezTo>
                    <a:pt x="13716" y="3019806"/>
                    <a:pt x="0" y="3006090"/>
                    <a:pt x="0" y="2989072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95421" y="5765225"/>
            <a:ext cx="192176" cy="1372676"/>
            <a:chOff x="0" y="0"/>
            <a:chExt cx="256235" cy="1830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159" cy="1830197"/>
            </a:xfrm>
            <a:custGeom>
              <a:avLst/>
              <a:gdLst/>
              <a:ahLst/>
              <a:cxnLst/>
              <a:rect r="r" b="b" t="t" l="l"/>
              <a:pathLst>
                <a:path h="1830197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1799463"/>
                  </a:lnTo>
                  <a:cubicBezTo>
                    <a:pt x="256159" y="1816481"/>
                    <a:pt x="242443" y="1830197"/>
                    <a:pt x="225425" y="1830197"/>
                  </a:cubicBezTo>
                  <a:lnTo>
                    <a:pt x="30734" y="1830197"/>
                  </a:lnTo>
                  <a:cubicBezTo>
                    <a:pt x="13716" y="1830197"/>
                    <a:pt x="0" y="1816481"/>
                    <a:pt x="0" y="1799463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93500" y="5525005"/>
            <a:ext cx="192176" cy="1853108"/>
            <a:chOff x="0" y="0"/>
            <a:chExt cx="256235" cy="24708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159" cy="2470785"/>
            </a:xfrm>
            <a:custGeom>
              <a:avLst/>
              <a:gdLst/>
              <a:ahLst/>
              <a:cxnLst/>
              <a:rect r="r" b="b" t="t" l="l"/>
              <a:pathLst>
                <a:path h="2470785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2440051"/>
                  </a:lnTo>
                  <a:cubicBezTo>
                    <a:pt x="256159" y="2457069"/>
                    <a:pt x="242443" y="2470785"/>
                    <a:pt x="225425" y="2470785"/>
                  </a:cubicBezTo>
                  <a:lnTo>
                    <a:pt x="30734" y="2470785"/>
                  </a:lnTo>
                  <a:cubicBezTo>
                    <a:pt x="13716" y="2470785"/>
                    <a:pt x="0" y="2457069"/>
                    <a:pt x="0" y="2440051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91568" y="6005446"/>
            <a:ext cx="192176" cy="892235"/>
            <a:chOff x="0" y="0"/>
            <a:chExt cx="256235" cy="11896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159" cy="1189609"/>
            </a:xfrm>
            <a:custGeom>
              <a:avLst/>
              <a:gdLst/>
              <a:ahLst/>
              <a:cxnLst/>
              <a:rect r="r" b="b" t="t" l="l"/>
              <a:pathLst>
                <a:path h="1189609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1158875"/>
                  </a:lnTo>
                  <a:cubicBezTo>
                    <a:pt x="256159" y="1175893"/>
                    <a:pt x="242443" y="1189609"/>
                    <a:pt x="225425" y="1189609"/>
                  </a:cubicBezTo>
                  <a:lnTo>
                    <a:pt x="30734" y="1189609"/>
                  </a:lnTo>
                  <a:cubicBezTo>
                    <a:pt x="13716" y="1189609"/>
                    <a:pt x="0" y="1175893"/>
                    <a:pt x="0" y="1158875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689647" y="5696588"/>
            <a:ext cx="192176" cy="1509941"/>
            <a:chOff x="0" y="0"/>
            <a:chExt cx="256235" cy="20132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159" cy="2013204"/>
            </a:xfrm>
            <a:custGeom>
              <a:avLst/>
              <a:gdLst/>
              <a:ahLst/>
              <a:cxnLst/>
              <a:rect r="r" b="b" t="t" l="l"/>
              <a:pathLst>
                <a:path h="2013204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1982470"/>
                  </a:lnTo>
                  <a:cubicBezTo>
                    <a:pt x="256159" y="1999488"/>
                    <a:pt x="242443" y="2013204"/>
                    <a:pt x="225425" y="2013204"/>
                  </a:cubicBezTo>
                  <a:lnTo>
                    <a:pt x="30734" y="2013204"/>
                  </a:lnTo>
                  <a:cubicBezTo>
                    <a:pt x="13716" y="2013204"/>
                    <a:pt x="0" y="1999488"/>
                    <a:pt x="0" y="1982470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087725" y="5387740"/>
            <a:ext cx="192176" cy="2127647"/>
            <a:chOff x="0" y="0"/>
            <a:chExt cx="256235" cy="28368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159" cy="2836799"/>
            </a:xfrm>
            <a:custGeom>
              <a:avLst/>
              <a:gdLst/>
              <a:ahLst/>
              <a:cxnLst/>
              <a:rect r="r" b="b" t="t" l="l"/>
              <a:pathLst>
                <a:path h="2836799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2806065"/>
                  </a:lnTo>
                  <a:cubicBezTo>
                    <a:pt x="256159" y="2823083"/>
                    <a:pt x="242443" y="2836799"/>
                    <a:pt x="225425" y="2836799"/>
                  </a:cubicBezTo>
                  <a:lnTo>
                    <a:pt x="30734" y="2836799"/>
                  </a:lnTo>
                  <a:cubicBezTo>
                    <a:pt x="13716" y="2836799"/>
                    <a:pt x="0" y="2823083"/>
                    <a:pt x="0" y="280606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485794" y="5902490"/>
            <a:ext cx="192176" cy="1098137"/>
            <a:chOff x="0" y="0"/>
            <a:chExt cx="256235" cy="14641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159" cy="1464183"/>
            </a:xfrm>
            <a:custGeom>
              <a:avLst/>
              <a:gdLst/>
              <a:ahLst/>
              <a:cxnLst/>
              <a:rect r="r" b="b" t="t" l="l"/>
              <a:pathLst>
                <a:path h="1464183" w="256159">
                  <a:moveTo>
                    <a:pt x="0" y="30734"/>
                  </a:moveTo>
                  <a:cubicBezTo>
                    <a:pt x="0" y="13716"/>
                    <a:pt x="13716" y="0"/>
                    <a:pt x="30734" y="0"/>
                  </a:cubicBezTo>
                  <a:lnTo>
                    <a:pt x="225425" y="0"/>
                  </a:lnTo>
                  <a:cubicBezTo>
                    <a:pt x="242443" y="0"/>
                    <a:pt x="256159" y="13716"/>
                    <a:pt x="256159" y="30734"/>
                  </a:cubicBezTo>
                  <a:lnTo>
                    <a:pt x="256159" y="1433449"/>
                  </a:lnTo>
                  <a:cubicBezTo>
                    <a:pt x="256159" y="1450467"/>
                    <a:pt x="242443" y="1464183"/>
                    <a:pt x="225425" y="1464183"/>
                  </a:cubicBezTo>
                  <a:lnTo>
                    <a:pt x="30734" y="1464183"/>
                  </a:lnTo>
                  <a:cubicBezTo>
                    <a:pt x="13716" y="1464183"/>
                    <a:pt x="0" y="1450467"/>
                    <a:pt x="0" y="1433449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95362" y="1853108"/>
            <a:ext cx="2470814" cy="2470814"/>
            <a:chOff x="0" y="0"/>
            <a:chExt cx="3294418" cy="32944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94380" cy="3294380"/>
            </a:xfrm>
            <a:custGeom>
              <a:avLst/>
              <a:gdLst/>
              <a:ahLst/>
              <a:cxnLst/>
              <a:rect r="r" b="b" t="t" l="l"/>
              <a:pathLst>
                <a:path h="3294380" w="3294380">
                  <a:moveTo>
                    <a:pt x="0" y="1647190"/>
                  </a:moveTo>
                  <a:cubicBezTo>
                    <a:pt x="0" y="737489"/>
                    <a:pt x="737489" y="0"/>
                    <a:pt x="1647190" y="0"/>
                  </a:cubicBezTo>
                  <a:cubicBezTo>
                    <a:pt x="2556891" y="0"/>
                    <a:pt x="3294380" y="737489"/>
                    <a:pt x="3294380" y="1647190"/>
                  </a:cubicBezTo>
                  <a:cubicBezTo>
                    <a:pt x="3294380" y="2556891"/>
                    <a:pt x="2556891" y="3294380"/>
                    <a:pt x="1647190" y="3294380"/>
                  </a:cubicBezTo>
                  <a:cubicBezTo>
                    <a:pt x="737489" y="3294380"/>
                    <a:pt x="0" y="2556891"/>
                    <a:pt x="0" y="1647190"/>
                  </a:cubicBezTo>
                  <a:close/>
                </a:path>
              </a:pathLst>
            </a:custGeom>
            <a:solidFill>
              <a:srgbClr val="1F314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34617" y="2292363"/>
            <a:ext cx="1592304" cy="1592304"/>
            <a:chOff x="0" y="0"/>
            <a:chExt cx="2123072" cy="2123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23186" cy="2123186"/>
            </a:xfrm>
            <a:custGeom>
              <a:avLst/>
              <a:gdLst/>
              <a:ahLst/>
              <a:cxnLst/>
              <a:rect r="r" b="b" t="t" l="l"/>
              <a:pathLst>
                <a:path h="2123186" w="2123186">
                  <a:moveTo>
                    <a:pt x="0" y="1061593"/>
                  </a:moveTo>
                  <a:cubicBezTo>
                    <a:pt x="0" y="475234"/>
                    <a:pt x="475234" y="0"/>
                    <a:pt x="1061593" y="0"/>
                  </a:cubicBezTo>
                  <a:cubicBezTo>
                    <a:pt x="1647952" y="0"/>
                    <a:pt x="2123186" y="475234"/>
                    <a:pt x="2123186" y="1061593"/>
                  </a:cubicBezTo>
                  <a:cubicBezTo>
                    <a:pt x="2123186" y="1647952"/>
                    <a:pt x="1647952" y="2123186"/>
                    <a:pt x="1061593" y="2123186"/>
                  </a:cubicBezTo>
                  <a:cubicBezTo>
                    <a:pt x="475234" y="2123186"/>
                    <a:pt x="0" y="1647825"/>
                    <a:pt x="0" y="1061593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440472" y="2392347"/>
            <a:ext cx="1194311" cy="9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 b="true">
                <a:solidFill>
                  <a:srgbClr val="0F182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♪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3001" y="1125569"/>
            <a:ext cx="6753635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DBMS MINI PROJECT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3001" y="2076917"/>
            <a:ext cx="10871654" cy="1945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Music Playlist</a:t>
            </a:r>
          </a:p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Management System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913" y="4625883"/>
            <a:ext cx="9361713" cy="90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A relational database for organising songs, artists, and playlists.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53049" y="6108392"/>
            <a:ext cx="4461186" cy="796147"/>
            <a:chOff x="0" y="0"/>
            <a:chExt cx="5948248" cy="10615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48299" cy="1061593"/>
            </a:xfrm>
            <a:custGeom>
              <a:avLst/>
              <a:gdLst/>
              <a:ahLst/>
              <a:cxnLst/>
              <a:rect r="r" b="b" t="t" l="l"/>
              <a:pathLst>
                <a:path h="1061593" w="5948299">
                  <a:moveTo>
                    <a:pt x="0" y="127381"/>
                  </a:moveTo>
                  <a:cubicBezTo>
                    <a:pt x="0" y="57023"/>
                    <a:pt x="57023" y="0"/>
                    <a:pt x="127381" y="0"/>
                  </a:cubicBezTo>
                  <a:lnTo>
                    <a:pt x="5820918" y="0"/>
                  </a:lnTo>
                  <a:cubicBezTo>
                    <a:pt x="5891276" y="0"/>
                    <a:pt x="5948299" y="57023"/>
                    <a:pt x="5948299" y="127381"/>
                  </a:cubicBezTo>
                  <a:lnTo>
                    <a:pt x="5948299" y="934212"/>
                  </a:lnTo>
                  <a:cubicBezTo>
                    <a:pt x="5948299" y="1004570"/>
                    <a:pt x="5891276" y="1061593"/>
                    <a:pt x="5820918" y="1061593"/>
                  </a:cubicBezTo>
                  <a:lnTo>
                    <a:pt x="127381" y="1061593"/>
                  </a:lnTo>
                  <a:cubicBezTo>
                    <a:pt x="57023" y="1061593"/>
                    <a:pt x="0" y="1004443"/>
                    <a:pt x="0" y="934212"/>
                  </a:cubicBezTo>
                  <a:close/>
                </a:path>
              </a:pathLst>
            </a:custGeom>
            <a:solidFill>
              <a:srgbClr val="1F314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800329" y="6302916"/>
            <a:ext cx="3166627" cy="41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878" b="true">
                <a:solidFill>
                  <a:srgbClr val="A6F5DA"/>
                </a:solidFill>
                <a:latin typeface="Aptos Bold"/>
                <a:ea typeface="Aptos Bold"/>
                <a:cs typeface="Aptos Bold"/>
                <a:sym typeface="Aptos Bold"/>
              </a:rPr>
              <a:t>GROUP ID: Group 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3001" y="7275166"/>
            <a:ext cx="7936087" cy="207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634" indent="-373817" lvl="1">
              <a:lnSpc>
                <a:spcPts val="4155"/>
              </a:lnSpc>
              <a:buFont typeface="Arial"/>
              <a:buChar char="•"/>
            </a:pPr>
            <a:r>
              <a:rPr lang="en-US" sz="3462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TEAM MEMBER: Vedant Belsare</a:t>
            </a:r>
          </a:p>
          <a:p>
            <a:pPr algn="l" marL="747634" indent="-373817" lvl="1">
              <a:lnSpc>
                <a:spcPts val="4155"/>
              </a:lnSpc>
              <a:buFont typeface="Arial"/>
              <a:buChar char="•"/>
            </a:pPr>
            <a:r>
              <a:rPr lang="en-US" sz="3462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PRN: 1262252826</a:t>
            </a:r>
          </a:p>
          <a:p>
            <a:pPr algn="l" marL="747634" indent="-373817" lvl="1">
              <a:lnSpc>
                <a:spcPts val="4155"/>
              </a:lnSpc>
              <a:buFont typeface="Arial"/>
              <a:buChar char="•"/>
            </a:pPr>
            <a:r>
              <a:rPr lang="en-US" sz="3462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Division: SY BTech CSE CSF Panel A</a:t>
            </a:r>
          </a:p>
          <a:p>
            <a:pPr algn="l" marL="747634" indent="-373817" lvl="1">
              <a:lnSpc>
                <a:spcPts val="4155"/>
              </a:lnSpc>
              <a:buFont typeface="Arial"/>
              <a:buChar char="•"/>
            </a:pPr>
            <a:r>
              <a:rPr lang="en-US" sz="3462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Batch: A2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01 / 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The problem we're solving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872" y="2402176"/>
            <a:ext cx="8030137" cy="2745343"/>
            <a:chOff x="0" y="0"/>
            <a:chExt cx="10706849" cy="36604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06862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706862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10267569" y="0"/>
                  </a:lnTo>
                  <a:cubicBezTo>
                    <a:pt x="10510138" y="0"/>
                    <a:pt x="10706862" y="196723"/>
                    <a:pt x="10706862" y="439293"/>
                  </a:cubicBezTo>
                  <a:lnTo>
                    <a:pt x="10706862" y="3221228"/>
                  </a:lnTo>
                  <a:cubicBezTo>
                    <a:pt x="10706862" y="3463798"/>
                    <a:pt x="10510138" y="3660521"/>
                    <a:pt x="10267569" y="3660521"/>
                  </a:cubicBezTo>
                  <a:lnTo>
                    <a:pt x="439293" y="3660521"/>
                  </a:lnTo>
                  <a:cubicBezTo>
                    <a:pt x="196723" y="3660521"/>
                    <a:pt x="0" y="3463798"/>
                    <a:pt x="0" y="3221228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2402176"/>
            <a:ext cx="96088" cy="2745343"/>
            <a:chOff x="0" y="0"/>
            <a:chExt cx="128118" cy="36604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FF849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17717" y="2635510"/>
            <a:ext cx="737133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THE CHALLENGE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7717" y="3225756"/>
            <a:ext cx="7371331" cy="175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Songs can appear in multiple playlists. Keeping titles, artists, durations, and playlist order consistent becomes difficult when information is spread across files.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34176" y="2402176"/>
            <a:ext cx="8030137" cy="2745343"/>
            <a:chOff x="0" y="0"/>
            <a:chExt cx="10706849" cy="366045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6862" cy="3660521"/>
            </a:xfrm>
            <a:custGeom>
              <a:avLst/>
              <a:gdLst/>
              <a:ahLst/>
              <a:cxnLst/>
              <a:rect r="r" b="b" t="t" l="l"/>
              <a:pathLst>
                <a:path h="3660521" w="10706862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10267569" y="0"/>
                  </a:lnTo>
                  <a:cubicBezTo>
                    <a:pt x="10510138" y="0"/>
                    <a:pt x="10706862" y="196723"/>
                    <a:pt x="10706862" y="439293"/>
                  </a:cubicBezTo>
                  <a:lnTo>
                    <a:pt x="10706862" y="3221228"/>
                  </a:lnTo>
                  <a:cubicBezTo>
                    <a:pt x="10706862" y="3463798"/>
                    <a:pt x="10510138" y="3660521"/>
                    <a:pt x="10267569" y="3660521"/>
                  </a:cubicBezTo>
                  <a:lnTo>
                    <a:pt x="439293" y="3660521"/>
                  </a:lnTo>
                  <a:cubicBezTo>
                    <a:pt x="196723" y="3660521"/>
                    <a:pt x="0" y="3463798"/>
                    <a:pt x="0" y="3221228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176" y="2402176"/>
            <a:ext cx="96088" cy="2745343"/>
            <a:chOff x="0" y="0"/>
            <a:chExt cx="128118" cy="36604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91021" y="2635510"/>
            <a:ext cx="7371331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THE APPROACH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91021" y="3225756"/>
            <a:ext cx="7371331" cy="175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Use a relational database to centralise song and artist details while preserving playlist membership and order through a linking table.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3001" y="5792657"/>
            <a:ext cx="6753635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C65C"/>
                </a:solidFill>
                <a:latin typeface="Aptos Bold"/>
                <a:ea typeface="Aptos Bold"/>
                <a:cs typeface="Aptos Bold"/>
                <a:sym typeface="Aptos Bold"/>
              </a:rPr>
              <a:t>PROJECT GOAL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3001" y="6378702"/>
            <a:ext cx="15813272" cy="137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Design a database-backed playlist manager that supports structured storage, searching, reporting, and reliable relationships between songs, artists, and playlists.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3001" y="8675265"/>
            <a:ext cx="15676007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Scope: database design, SQL operations, stored programs, and a frontend connected to MySQL.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02 /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Objectives &amp; core capabilities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9500" y="2470814"/>
            <a:ext cx="7892863" cy="2333539"/>
            <a:chOff x="0" y="0"/>
            <a:chExt cx="10523817" cy="31113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23855" cy="3111373"/>
            </a:xfrm>
            <a:custGeom>
              <a:avLst/>
              <a:gdLst/>
              <a:ahLst/>
              <a:cxnLst/>
              <a:rect r="r" b="b" t="t" l="l"/>
              <a:pathLst>
                <a:path h="3111373" w="10523855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10150475" y="0"/>
                  </a:lnTo>
                  <a:cubicBezTo>
                    <a:pt x="10356723" y="0"/>
                    <a:pt x="10523855" y="167132"/>
                    <a:pt x="10523855" y="373380"/>
                  </a:cubicBezTo>
                  <a:lnTo>
                    <a:pt x="10523855" y="2737993"/>
                  </a:lnTo>
                  <a:cubicBezTo>
                    <a:pt x="10523855" y="2944241"/>
                    <a:pt x="10356723" y="3111373"/>
                    <a:pt x="10150475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58941" y="2841431"/>
            <a:ext cx="796147" cy="796147"/>
            <a:chOff x="0" y="0"/>
            <a:chExt cx="1061530" cy="10615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530733"/>
                  </a:moveTo>
                  <a:cubicBezTo>
                    <a:pt x="0" y="237617"/>
                    <a:pt x="237617" y="0"/>
                    <a:pt x="530733" y="0"/>
                  </a:cubicBezTo>
                  <a:cubicBezTo>
                    <a:pt x="823849" y="0"/>
                    <a:pt x="1061593" y="237617"/>
                    <a:pt x="1061593" y="530733"/>
                  </a:cubicBezTo>
                  <a:cubicBezTo>
                    <a:pt x="1061593" y="823849"/>
                    <a:pt x="823849" y="1061593"/>
                    <a:pt x="530733" y="1061593"/>
                  </a:cubicBezTo>
                  <a:cubicBezTo>
                    <a:pt x="237617" y="1061593"/>
                    <a:pt x="0" y="823849"/>
                    <a:pt x="0" y="530733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13805" y="3074765"/>
            <a:ext cx="686419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25678" y="2841412"/>
            <a:ext cx="5724125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Organise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25678" y="3531946"/>
            <a:ext cx="5792762" cy="84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Store songs, artists, and playlists in related tables.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02804" y="2470814"/>
            <a:ext cx="7892863" cy="2333539"/>
            <a:chOff x="0" y="0"/>
            <a:chExt cx="10523817" cy="31113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23855" cy="3111373"/>
            </a:xfrm>
            <a:custGeom>
              <a:avLst/>
              <a:gdLst/>
              <a:ahLst/>
              <a:cxnLst/>
              <a:rect r="r" b="b" t="t" l="l"/>
              <a:pathLst>
                <a:path h="3111373" w="10523855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10150475" y="0"/>
                  </a:lnTo>
                  <a:cubicBezTo>
                    <a:pt x="10356723" y="0"/>
                    <a:pt x="10523855" y="167132"/>
                    <a:pt x="10523855" y="373380"/>
                  </a:cubicBezTo>
                  <a:lnTo>
                    <a:pt x="10523855" y="2737993"/>
                  </a:lnTo>
                  <a:cubicBezTo>
                    <a:pt x="10523855" y="2944241"/>
                    <a:pt x="10356723" y="3111373"/>
                    <a:pt x="10150475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732245" y="2841431"/>
            <a:ext cx="796147" cy="796147"/>
            <a:chOff x="0" y="0"/>
            <a:chExt cx="1061530" cy="1061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530733"/>
                  </a:moveTo>
                  <a:cubicBezTo>
                    <a:pt x="0" y="237617"/>
                    <a:pt x="237617" y="0"/>
                    <a:pt x="530733" y="0"/>
                  </a:cubicBezTo>
                  <a:cubicBezTo>
                    <a:pt x="823849" y="0"/>
                    <a:pt x="1061593" y="237617"/>
                    <a:pt x="1061593" y="530733"/>
                  </a:cubicBezTo>
                  <a:cubicBezTo>
                    <a:pt x="1061593" y="823849"/>
                    <a:pt x="823849" y="1061593"/>
                    <a:pt x="530733" y="1061593"/>
                  </a:cubicBezTo>
                  <a:cubicBezTo>
                    <a:pt x="237617" y="1061593"/>
                    <a:pt x="0" y="823849"/>
                    <a:pt x="0" y="530733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787109" y="3074765"/>
            <a:ext cx="686419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98972" y="2841412"/>
            <a:ext cx="5724125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Preserve order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98972" y="3531946"/>
            <a:ext cx="5792762" cy="84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Record each song's position inside a playlist.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9500" y="5284784"/>
            <a:ext cx="7892863" cy="2333539"/>
            <a:chOff x="0" y="0"/>
            <a:chExt cx="10523817" cy="31113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23855" cy="3111373"/>
            </a:xfrm>
            <a:custGeom>
              <a:avLst/>
              <a:gdLst/>
              <a:ahLst/>
              <a:cxnLst/>
              <a:rect r="r" b="b" t="t" l="l"/>
              <a:pathLst>
                <a:path h="3111373" w="10523855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10150475" y="0"/>
                  </a:lnTo>
                  <a:cubicBezTo>
                    <a:pt x="10356723" y="0"/>
                    <a:pt x="10523855" y="167132"/>
                    <a:pt x="10523855" y="373380"/>
                  </a:cubicBezTo>
                  <a:lnTo>
                    <a:pt x="10523855" y="2737993"/>
                  </a:lnTo>
                  <a:cubicBezTo>
                    <a:pt x="10523855" y="2944241"/>
                    <a:pt x="10356723" y="3111373"/>
                    <a:pt x="10150475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58941" y="5655412"/>
            <a:ext cx="796147" cy="796147"/>
            <a:chOff x="0" y="0"/>
            <a:chExt cx="1061530" cy="10615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530733"/>
                  </a:moveTo>
                  <a:cubicBezTo>
                    <a:pt x="0" y="237617"/>
                    <a:pt x="237617" y="0"/>
                    <a:pt x="530733" y="0"/>
                  </a:cubicBezTo>
                  <a:cubicBezTo>
                    <a:pt x="823849" y="0"/>
                    <a:pt x="1061593" y="237617"/>
                    <a:pt x="1061593" y="530733"/>
                  </a:cubicBezTo>
                  <a:cubicBezTo>
                    <a:pt x="1061593" y="823849"/>
                    <a:pt x="823849" y="1061593"/>
                    <a:pt x="530733" y="1061593"/>
                  </a:cubicBezTo>
                  <a:cubicBezTo>
                    <a:pt x="237617" y="1061593"/>
                    <a:pt x="0" y="823849"/>
                    <a:pt x="0" y="530733"/>
                  </a:cubicBezTo>
                  <a:close/>
                </a:path>
              </a:pathLst>
            </a:custGeom>
            <a:solidFill>
              <a:srgbClr val="70B1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13805" y="5888746"/>
            <a:ext cx="686419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25678" y="5655383"/>
            <a:ext cx="5724125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Search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25678" y="6345926"/>
            <a:ext cx="5792762" cy="84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Find songs by title and retrieve songs by artist.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02804" y="5284784"/>
            <a:ext cx="7892863" cy="2333539"/>
            <a:chOff x="0" y="0"/>
            <a:chExt cx="10523817" cy="31113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23855" cy="3111373"/>
            </a:xfrm>
            <a:custGeom>
              <a:avLst/>
              <a:gdLst/>
              <a:ahLst/>
              <a:cxnLst/>
              <a:rect r="r" b="b" t="t" l="l"/>
              <a:pathLst>
                <a:path h="3111373" w="10523855">
                  <a:moveTo>
                    <a:pt x="0" y="373380"/>
                  </a:moveTo>
                  <a:cubicBezTo>
                    <a:pt x="0" y="167132"/>
                    <a:pt x="167132" y="0"/>
                    <a:pt x="373380" y="0"/>
                  </a:cubicBezTo>
                  <a:lnTo>
                    <a:pt x="10150475" y="0"/>
                  </a:lnTo>
                  <a:cubicBezTo>
                    <a:pt x="10356723" y="0"/>
                    <a:pt x="10523855" y="167132"/>
                    <a:pt x="10523855" y="373380"/>
                  </a:cubicBezTo>
                  <a:lnTo>
                    <a:pt x="10523855" y="2737993"/>
                  </a:lnTo>
                  <a:cubicBezTo>
                    <a:pt x="10523855" y="2944241"/>
                    <a:pt x="10356723" y="3111373"/>
                    <a:pt x="10150475" y="3111373"/>
                  </a:cubicBezTo>
                  <a:lnTo>
                    <a:pt x="373380" y="3111373"/>
                  </a:lnTo>
                  <a:cubicBezTo>
                    <a:pt x="167132" y="3111373"/>
                    <a:pt x="0" y="2944241"/>
                    <a:pt x="0" y="2737993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32245" y="5655412"/>
            <a:ext cx="796147" cy="796147"/>
            <a:chOff x="0" y="0"/>
            <a:chExt cx="1061530" cy="10615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1593" cy="1061593"/>
            </a:xfrm>
            <a:custGeom>
              <a:avLst/>
              <a:gdLst/>
              <a:ahLst/>
              <a:cxnLst/>
              <a:rect r="r" b="b" t="t" l="l"/>
              <a:pathLst>
                <a:path h="1061593" w="1061593">
                  <a:moveTo>
                    <a:pt x="0" y="530733"/>
                  </a:moveTo>
                  <a:cubicBezTo>
                    <a:pt x="0" y="237617"/>
                    <a:pt x="237617" y="0"/>
                    <a:pt x="530733" y="0"/>
                  </a:cubicBezTo>
                  <a:cubicBezTo>
                    <a:pt x="823849" y="0"/>
                    <a:pt x="1061593" y="237617"/>
                    <a:pt x="1061593" y="530733"/>
                  </a:cubicBezTo>
                  <a:cubicBezTo>
                    <a:pt x="1061593" y="823849"/>
                    <a:pt x="823849" y="1061593"/>
                    <a:pt x="530733" y="1061593"/>
                  </a:cubicBezTo>
                  <a:cubicBezTo>
                    <a:pt x="237617" y="1061593"/>
                    <a:pt x="0" y="823849"/>
                    <a:pt x="0" y="530733"/>
                  </a:cubicBezTo>
                  <a:close/>
                </a:path>
              </a:pathLst>
            </a:custGeom>
            <a:solidFill>
              <a:srgbClr val="FF849B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787109" y="5888746"/>
            <a:ext cx="686419" cy="2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8972" y="5655383"/>
            <a:ext cx="5724125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Report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98972" y="6345926"/>
            <a:ext cx="5792762" cy="84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Count songs and calculate playlist duration.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3001" y="8606638"/>
            <a:ext cx="15676007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Designed around the existing Music Playlist Manager use case and its overlapping playlists.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03 / HOW THE PIECES CONNECT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System 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6698" y="2939806"/>
            <a:ext cx="3385928" cy="1972075"/>
            <a:chOff x="0" y="0"/>
            <a:chExt cx="4514571" cy="2629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14596" cy="2629535"/>
            </a:xfrm>
            <a:custGeom>
              <a:avLst/>
              <a:gdLst/>
              <a:ahLst/>
              <a:cxnLst/>
              <a:rect r="r" b="b" t="t" l="l"/>
              <a:pathLst>
                <a:path h="2629535" w="4514596">
                  <a:moveTo>
                    <a:pt x="0" y="315595"/>
                  </a:moveTo>
                  <a:cubicBezTo>
                    <a:pt x="0" y="141224"/>
                    <a:pt x="141224" y="0"/>
                    <a:pt x="315595" y="0"/>
                  </a:cubicBezTo>
                  <a:lnTo>
                    <a:pt x="4199001" y="0"/>
                  </a:lnTo>
                  <a:cubicBezTo>
                    <a:pt x="4373245" y="0"/>
                    <a:pt x="4514596" y="141224"/>
                    <a:pt x="4514596" y="315595"/>
                  </a:cubicBezTo>
                  <a:lnTo>
                    <a:pt x="4514596" y="2313940"/>
                  </a:lnTo>
                  <a:cubicBezTo>
                    <a:pt x="4514596" y="2488184"/>
                    <a:pt x="4373372" y="2629535"/>
                    <a:pt x="4199001" y="2629535"/>
                  </a:cubicBezTo>
                  <a:lnTo>
                    <a:pt x="315595" y="2629535"/>
                  </a:lnTo>
                  <a:cubicBezTo>
                    <a:pt x="141224" y="2629408"/>
                    <a:pt x="0" y="2488184"/>
                    <a:pt x="0" y="2313940"/>
                  </a:cubicBezTo>
                  <a:close/>
                </a:path>
              </a:pathLst>
            </a:custGeom>
            <a:solidFill>
              <a:srgbClr val="1F3144"/>
            </a:solidFill>
            <a:ln w="22878" cap="sq">
              <a:solidFill>
                <a:srgbClr val="3CD2B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90266" y="3390481"/>
            <a:ext cx="2978782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CSV FILES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0266" y="4035638"/>
            <a:ext cx="2978782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Initial song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547884" y="2939806"/>
            <a:ext cx="3729095" cy="1972075"/>
            <a:chOff x="0" y="0"/>
            <a:chExt cx="4972126" cy="26294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72177" cy="2629535"/>
            </a:xfrm>
            <a:custGeom>
              <a:avLst/>
              <a:gdLst/>
              <a:ahLst/>
              <a:cxnLst/>
              <a:rect r="r" b="b" t="t" l="l"/>
              <a:pathLst>
                <a:path h="2629535" w="4972177">
                  <a:moveTo>
                    <a:pt x="0" y="315595"/>
                  </a:moveTo>
                  <a:cubicBezTo>
                    <a:pt x="0" y="141224"/>
                    <a:pt x="141224" y="0"/>
                    <a:pt x="315595" y="0"/>
                  </a:cubicBezTo>
                  <a:lnTo>
                    <a:pt x="4656582" y="0"/>
                  </a:lnTo>
                  <a:cubicBezTo>
                    <a:pt x="4830826" y="0"/>
                    <a:pt x="4972177" y="141224"/>
                    <a:pt x="4972177" y="315595"/>
                  </a:cubicBezTo>
                  <a:lnTo>
                    <a:pt x="4972177" y="2313940"/>
                  </a:lnTo>
                  <a:cubicBezTo>
                    <a:pt x="4972177" y="2488184"/>
                    <a:pt x="4830953" y="2629535"/>
                    <a:pt x="4656582" y="2629535"/>
                  </a:cubicBezTo>
                  <a:lnTo>
                    <a:pt x="315595" y="2629535"/>
                  </a:lnTo>
                  <a:cubicBezTo>
                    <a:pt x="141224" y="2629408"/>
                    <a:pt x="0" y="2488184"/>
                    <a:pt x="0" y="2313940"/>
                  </a:cubicBezTo>
                  <a:close/>
                </a:path>
              </a:pathLst>
            </a:custGeom>
            <a:solidFill>
              <a:srgbClr val="1F3144"/>
            </a:solidFill>
            <a:ln w="22878" cap="sq">
              <a:solidFill>
                <a:srgbClr val="FFC65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751452" y="3390481"/>
            <a:ext cx="3321949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MYSQL DATABASE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51452" y="4035638"/>
            <a:ext cx="3321949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Tables + constraints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52237" y="2939806"/>
            <a:ext cx="3248654" cy="1972075"/>
            <a:chOff x="0" y="0"/>
            <a:chExt cx="4331538" cy="26294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31589" cy="2629535"/>
            </a:xfrm>
            <a:custGeom>
              <a:avLst/>
              <a:gdLst/>
              <a:ahLst/>
              <a:cxnLst/>
              <a:rect r="r" b="b" t="t" l="l"/>
              <a:pathLst>
                <a:path h="2629535" w="4331589">
                  <a:moveTo>
                    <a:pt x="0" y="315595"/>
                  </a:moveTo>
                  <a:cubicBezTo>
                    <a:pt x="0" y="141224"/>
                    <a:pt x="141224" y="0"/>
                    <a:pt x="315595" y="0"/>
                  </a:cubicBezTo>
                  <a:lnTo>
                    <a:pt x="4015994" y="0"/>
                  </a:lnTo>
                  <a:cubicBezTo>
                    <a:pt x="4190238" y="0"/>
                    <a:pt x="4331589" y="141224"/>
                    <a:pt x="4331589" y="315595"/>
                  </a:cubicBezTo>
                  <a:lnTo>
                    <a:pt x="4331589" y="2313940"/>
                  </a:lnTo>
                  <a:cubicBezTo>
                    <a:pt x="4331589" y="2488184"/>
                    <a:pt x="4190365" y="2629535"/>
                    <a:pt x="4015994" y="2629535"/>
                  </a:cubicBezTo>
                  <a:lnTo>
                    <a:pt x="315595" y="2629535"/>
                  </a:lnTo>
                  <a:cubicBezTo>
                    <a:pt x="141224" y="2629408"/>
                    <a:pt x="0" y="2488184"/>
                    <a:pt x="0" y="2313940"/>
                  </a:cubicBezTo>
                  <a:close/>
                </a:path>
              </a:pathLst>
            </a:custGeom>
            <a:solidFill>
              <a:srgbClr val="1F3144"/>
            </a:solidFill>
            <a:ln w="22878" cap="sq">
              <a:solidFill>
                <a:srgbClr val="70B1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555805" y="3390481"/>
            <a:ext cx="2841517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C# FRONTEND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5805" y="4035638"/>
            <a:ext cx="2841517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Windows Forms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332991" y="2939806"/>
            <a:ext cx="2836859" cy="1972075"/>
            <a:chOff x="0" y="0"/>
            <a:chExt cx="3782479" cy="26294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82568" cy="2629535"/>
            </a:xfrm>
            <a:custGeom>
              <a:avLst/>
              <a:gdLst/>
              <a:ahLst/>
              <a:cxnLst/>
              <a:rect r="r" b="b" t="t" l="l"/>
              <a:pathLst>
                <a:path h="2629535" w="3782568">
                  <a:moveTo>
                    <a:pt x="0" y="315595"/>
                  </a:moveTo>
                  <a:cubicBezTo>
                    <a:pt x="0" y="141224"/>
                    <a:pt x="141224" y="0"/>
                    <a:pt x="315595" y="0"/>
                  </a:cubicBezTo>
                  <a:lnTo>
                    <a:pt x="3466973" y="0"/>
                  </a:lnTo>
                  <a:cubicBezTo>
                    <a:pt x="3641217" y="0"/>
                    <a:pt x="3782568" y="141224"/>
                    <a:pt x="3782568" y="315595"/>
                  </a:cubicBezTo>
                  <a:lnTo>
                    <a:pt x="3782568" y="2313940"/>
                  </a:lnTo>
                  <a:cubicBezTo>
                    <a:pt x="3782568" y="2488184"/>
                    <a:pt x="3641344" y="2629535"/>
                    <a:pt x="3466973" y="2629535"/>
                  </a:cubicBezTo>
                  <a:lnTo>
                    <a:pt x="315595" y="2629535"/>
                  </a:lnTo>
                  <a:cubicBezTo>
                    <a:pt x="141224" y="2629408"/>
                    <a:pt x="0" y="2488184"/>
                    <a:pt x="0" y="2313940"/>
                  </a:cubicBezTo>
                  <a:close/>
                </a:path>
              </a:pathLst>
            </a:custGeom>
            <a:solidFill>
              <a:srgbClr val="1F3144"/>
            </a:solidFill>
            <a:ln w="22878" cap="sq">
              <a:solidFill>
                <a:srgbClr val="FF849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4536560" y="3390481"/>
            <a:ext cx="2429713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36560" y="4035638"/>
            <a:ext cx="2429713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Search + reports</a:t>
            </a:r>
          </a:p>
        </p:txBody>
      </p:sp>
      <p:sp>
        <p:nvSpPr>
          <p:cNvPr name="AutoShape 23" id="23"/>
          <p:cNvSpPr/>
          <p:nvPr/>
        </p:nvSpPr>
        <p:spPr>
          <a:xfrm rot="115320">
            <a:off x="4441803" y="3916318"/>
            <a:ext cx="1136904" cy="0"/>
          </a:xfrm>
          <a:prstGeom prst="line">
            <a:avLst/>
          </a:prstGeom>
          <a:ln cap="rnd" w="19050">
            <a:solidFill>
              <a:srgbClr val="3CD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15320">
            <a:off x="9246156" y="3916318"/>
            <a:ext cx="1136904" cy="0"/>
          </a:xfrm>
          <a:prstGeom prst="line">
            <a:avLst/>
          </a:prstGeom>
          <a:ln cap="rnd" w="19050">
            <a:solidFill>
              <a:srgbClr val="3CD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rot="165120">
            <a:off x="13569934" y="3916318"/>
            <a:ext cx="794014" cy="0"/>
          </a:xfrm>
          <a:prstGeom prst="line">
            <a:avLst/>
          </a:prstGeom>
          <a:ln cap="rnd" w="19050">
            <a:solidFill>
              <a:srgbClr val="3CD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290266" y="5998559"/>
            <a:ext cx="5380958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DATA FLOW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04039" y="6698637"/>
            <a:ext cx="164725" cy="164725"/>
            <a:chOff x="0" y="0"/>
            <a:chExt cx="219634" cy="2196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702070" y="6616256"/>
            <a:ext cx="13616997" cy="46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Import structured playlist data into MySQL.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04039" y="7357520"/>
            <a:ext cx="164725" cy="164725"/>
            <a:chOff x="0" y="0"/>
            <a:chExt cx="219634" cy="2196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702070" y="7275138"/>
            <a:ext cx="13616997" cy="46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Use SQL queries and stored programs to retrieve or summarise information.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04039" y="8016411"/>
            <a:ext cx="164725" cy="164725"/>
            <a:chOff x="0" y="0"/>
            <a:chExt cx="219634" cy="2196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702070" y="7934030"/>
            <a:ext cx="13616997" cy="46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The frontend sends requests to MySQL and displays results to the user.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04 / DATABASE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Entity–relationship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92600" y="2939806"/>
            <a:ext cx="3385928" cy="1601448"/>
            <a:chOff x="0" y="0"/>
            <a:chExt cx="4514571" cy="2135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14596" cy="2135378"/>
            </a:xfrm>
            <a:custGeom>
              <a:avLst/>
              <a:gdLst/>
              <a:ahLst/>
              <a:cxnLst/>
              <a:rect r="r" b="b" t="t" l="l"/>
              <a:pathLst>
                <a:path h="2135378" w="4514596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4258310" y="0"/>
                  </a:lnTo>
                  <a:cubicBezTo>
                    <a:pt x="4399788" y="0"/>
                    <a:pt x="4514596" y="114681"/>
                    <a:pt x="4514596" y="256286"/>
                  </a:cubicBezTo>
                  <a:lnTo>
                    <a:pt x="4514596" y="1879092"/>
                  </a:lnTo>
                  <a:cubicBezTo>
                    <a:pt x="4514596" y="2020570"/>
                    <a:pt x="4399915" y="2135378"/>
                    <a:pt x="4258310" y="2135378"/>
                  </a:cubicBezTo>
                  <a:lnTo>
                    <a:pt x="256286" y="2135378"/>
                  </a:lnTo>
                  <a:cubicBezTo>
                    <a:pt x="114681" y="2135251"/>
                    <a:pt x="0" y="2020570"/>
                    <a:pt x="0" y="1879092"/>
                  </a:cubicBezTo>
                  <a:close/>
                </a:path>
              </a:pathLst>
            </a:custGeom>
            <a:solidFill>
              <a:srgbClr val="1F3144"/>
            </a:solidFill>
            <a:ln w="22878" cap="sq">
              <a:solidFill>
                <a:srgbClr val="3CD2B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96168" y="3486569"/>
            <a:ext cx="2978782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ARTIST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95090" y="2939806"/>
            <a:ext cx="3385928" cy="1601448"/>
            <a:chOff x="0" y="0"/>
            <a:chExt cx="4514571" cy="21352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14596" cy="2135378"/>
            </a:xfrm>
            <a:custGeom>
              <a:avLst/>
              <a:gdLst/>
              <a:ahLst/>
              <a:cxnLst/>
              <a:rect r="r" b="b" t="t" l="l"/>
              <a:pathLst>
                <a:path h="2135378" w="4514596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4258310" y="0"/>
                  </a:lnTo>
                  <a:cubicBezTo>
                    <a:pt x="4399788" y="0"/>
                    <a:pt x="4514596" y="114681"/>
                    <a:pt x="4514596" y="256286"/>
                  </a:cubicBezTo>
                  <a:lnTo>
                    <a:pt x="4514596" y="1879092"/>
                  </a:lnTo>
                  <a:cubicBezTo>
                    <a:pt x="4514596" y="2020570"/>
                    <a:pt x="4399915" y="2135378"/>
                    <a:pt x="4258310" y="2135378"/>
                  </a:cubicBezTo>
                  <a:lnTo>
                    <a:pt x="256286" y="2135378"/>
                  </a:lnTo>
                  <a:cubicBezTo>
                    <a:pt x="114681" y="2135251"/>
                    <a:pt x="0" y="2020570"/>
                    <a:pt x="0" y="1879092"/>
                  </a:cubicBezTo>
                  <a:close/>
                </a:path>
              </a:pathLst>
            </a:custGeom>
            <a:solidFill>
              <a:srgbClr val="1F3144"/>
            </a:solidFill>
            <a:ln w="22878" cap="sq">
              <a:solidFill>
                <a:srgbClr val="FFC65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398658" y="3486569"/>
            <a:ext cx="2978782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SONG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72119" y="2939806"/>
            <a:ext cx="3385928" cy="1601448"/>
            <a:chOff x="0" y="0"/>
            <a:chExt cx="4514571" cy="2135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4596" cy="2135378"/>
            </a:xfrm>
            <a:custGeom>
              <a:avLst/>
              <a:gdLst/>
              <a:ahLst/>
              <a:cxnLst/>
              <a:rect r="r" b="b" t="t" l="l"/>
              <a:pathLst>
                <a:path h="2135378" w="4514596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lnTo>
                    <a:pt x="4258310" y="0"/>
                  </a:lnTo>
                  <a:cubicBezTo>
                    <a:pt x="4399788" y="0"/>
                    <a:pt x="4514596" y="114681"/>
                    <a:pt x="4514596" y="256286"/>
                  </a:cubicBezTo>
                  <a:lnTo>
                    <a:pt x="4514596" y="1879092"/>
                  </a:lnTo>
                  <a:cubicBezTo>
                    <a:pt x="4514596" y="2020570"/>
                    <a:pt x="4399915" y="2135378"/>
                    <a:pt x="4258310" y="2135378"/>
                  </a:cubicBezTo>
                  <a:lnTo>
                    <a:pt x="256286" y="2135378"/>
                  </a:lnTo>
                  <a:cubicBezTo>
                    <a:pt x="114681" y="2135251"/>
                    <a:pt x="0" y="2020570"/>
                    <a:pt x="0" y="1879092"/>
                  </a:cubicBezTo>
                  <a:close/>
                </a:path>
              </a:pathLst>
            </a:custGeom>
            <a:solidFill>
              <a:srgbClr val="1F3144"/>
            </a:solidFill>
            <a:ln w="22878" cap="sq">
              <a:solidFill>
                <a:srgbClr val="70B1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575687" y="3486569"/>
            <a:ext cx="2978782" cy="3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PLAYLIST</a:t>
            </a:r>
          </a:p>
        </p:txBody>
      </p:sp>
      <p:sp>
        <p:nvSpPr>
          <p:cNvPr name="AutoShape 16" id="16"/>
          <p:cNvSpPr/>
          <p:nvPr/>
        </p:nvSpPr>
        <p:spPr>
          <a:xfrm rot="50880">
            <a:off x="4647876" y="3724142"/>
            <a:ext cx="2577856" cy="0"/>
          </a:xfrm>
          <a:prstGeom prst="line">
            <a:avLst/>
          </a:prstGeom>
          <a:ln cap="rnd" w="19050">
            <a:solidFill>
              <a:srgbClr val="3CD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4969031" y="3143402"/>
            <a:ext cx="1949282" cy="24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PERFORMS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33756" y="4063089"/>
            <a:ext cx="1537478" cy="24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A6F5DA"/>
                </a:solidFill>
                <a:latin typeface="Aptos Bold"/>
                <a:ea typeface="Aptos Bold"/>
                <a:cs typeface="Aptos Bold"/>
                <a:sym typeface="Aptos Bold"/>
              </a:rPr>
              <a:t>1 : N</a:t>
            </a:r>
          </a:p>
        </p:txBody>
      </p:sp>
      <p:sp>
        <p:nvSpPr>
          <p:cNvPr name="AutoShape 19" id="19"/>
          <p:cNvSpPr/>
          <p:nvPr/>
        </p:nvSpPr>
        <p:spPr>
          <a:xfrm rot="45960">
            <a:off x="10550385" y="3724142"/>
            <a:ext cx="2852366" cy="0"/>
          </a:xfrm>
          <a:prstGeom prst="line">
            <a:avLst/>
          </a:prstGeom>
          <a:ln cap="rnd" w="19050">
            <a:solidFill>
              <a:srgbClr val="FFC65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940158" y="3143402"/>
            <a:ext cx="2086547" cy="24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FC65C"/>
                </a:solidFill>
                <a:latin typeface="Aptos Bold"/>
                <a:ea typeface="Aptos Bold"/>
                <a:cs typeface="Aptos Bold"/>
                <a:sym typeface="Aptos Bold"/>
              </a:rPr>
              <a:t>CONTAINS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73511" y="4063089"/>
            <a:ext cx="1537478" cy="24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A6F5DA"/>
                </a:solidFill>
                <a:latin typeface="Aptos Bold"/>
                <a:ea typeface="Aptos Bold"/>
                <a:cs typeface="Aptos Bold"/>
                <a:sym typeface="Aptos Bold"/>
              </a:rPr>
              <a:t>N : 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8903" y="4986985"/>
            <a:ext cx="3253321" cy="112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Artist_ID (PK)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Artist_Name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61393" y="4986985"/>
            <a:ext cx="3253321" cy="132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Song_ID (PK)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Title • Duration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Artist_ID (FK)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38422" y="4986985"/>
            <a:ext cx="3253321" cy="1121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Playlist_ID (PK)</a:t>
            </a:r>
          </a:p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Playlist_Name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89502" y="6508756"/>
            <a:ext cx="3523193" cy="1093565"/>
            <a:chOff x="0" y="0"/>
            <a:chExt cx="4697590" cy="14580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97603" cy="1458214"/>
            </a:xfrm>
            <a:custGeom>
              <a:avLst/>
              <a:gdLst/>
              <a:ahLst/>
              <a:cxnLst/>
              <a:rect r="r" b="b" t="t" l="l"/>
              <a:pathLst>
                <a:path h="1458214" w="4697603">
                  <a:moveTo>
                    <a:pt x="0" y="175006"/>
                  </a:moveTo>
                  <a:cubicBezTo>
                    <a:pt x="0" y="78359"/>
                    <a:pt x="78359" y="0"/>
                    <a:pt x="175006" y="0"/>
                  </a:cubicBezTo>
                  <a:lnTo>
                    <a:pt x="4522597" y="0"/>
                  </a:lnTo>
                  <a:cubicBezTo>
                    <a:pt x="4619244" y="0"/>
                    <a:pt x="4697603" y="78359"/>
                    <a:pt x="4697603" y="175006"/>
                  </a:cubicBezTo>
                  <a:lnTo>
                    <a:pt x="4697603" y="1283208"/>
                  </a:lnTo>
                  <a:cubicBezTo>
                    <a:pt x="4697603" y="1379855"/>
                    <a:pt x="4619244" y="1458214"/>
                    <a:pt x="4522597" y="1458214"/>
                  </a:cubicBezTo>
                  <a:lnTo>
                    <a:pt x="175006" y="1458214"/>
                  </a:lnTo>
                  <a:cubicBezTo>
                    <a:pt x="78359" y="1458087"/>
                    <a:pt x="0" y="1379728"/>
                    <a:pt x="0" y="1283081"/>
                  </a:cubicBezTo>
                  <a:close/>
                </a:path>
              </a:pathLst>
            </a:custGeom>
            <a:solidFill>
              <a:srgbClr val="192739"/>
            </a:solidFill>
            <a:ln w="22878" cap="sq">
              <a:solidFill>
                <a:srgbClr val="3CD2BE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0789158" y="6853819"/>
            <a:ext cx="2910154" cy="2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PLAYLIST_SONG</a:t>
            </a:r>
          </a:p>
        </p:txBody>
      </p:sp>
      <p:sp>
        <p:nvSpPr>
          <p:cNvPr name="AutoShape 28" id="28"/>
          <p:cNvSpPr/>
          <p:nvPr/>
        </p:nvSpPr>
        <p:spPr>
          <a:xfrm rot="5344920">
            <a:off x="11232718" y="5515480"/>
            <a:ext cx="2023043" cy="0"/>
          </a:xfrm>
          <a:prstGeom prst="line">
            <a:avLst/>
          </a:prstGeom>
          <a:ln cap="rnd" w="19050">
            <a:solidFill>
              <a:srgbClr val="3CD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651893" y="7824206"/>
            <a:ext cx="3253321" cy="79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Playlist_ID (PK, FK)</a:t>
            </a:r>
          </a:p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Song_ID (PK, FK) • Position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8903" y="8853716"/>
            <a:ext cx="15676007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ARTIST 1:N SONG • SONG N:M PLAYLIST. Position preserves the order of songs in each playlist.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05 / TABLES &amp; KEYS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Relational schema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9433" y="2528002"/>
            <a:ext cx="3729095" cy="2768222"/>
            <a:chOff x="0" y="0"/>
            <a:chExt cx="4972126" cy="36909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177" cy="3691001"/>
            </a:xfrm>
            <a:custGeom>
              <a:avLst/>
              <a:gdLst/>
              <a:ahLst/>
              <a:cxnLst/>
              <a:rect r="r" b="b" t="t" l="l"/>
              <a:pathLst>
                <a:path h="3691001" w="4972177">
                  <a:moveTo>
                    <a:pt x="0" y="442976"/>
                  </a:moveTo>
                  <a:cubicBezTo>
                    <a:pt x="0" y="198247"/>
                    <a:pt x="198247" y="0"/>
                    <a:pt x="442976" y="0"/>
                  </a:cubicBezTo>
                  <a:lnTo>
                    <a:pt x="4529201" y="0"/>
                  </a:lnTo>
                  <a:cubicBezTo>
                    <a:pt x="4773803" y="0"/>
                    <a:pt x="4972177" y="198247"/>
                    <a:pt x="4972177" y="442976"/>
                  </a:cubicBezTo>
                  <a:lnTo>
                    <a:pt x="4972177" y="3248025"/>
                  </a:lnTo>
                  <a:cubicBezTo>
                    <a:pt x="4972177" y="3492627"/>
                    <a:pt x="4773930" y="3691001"/>
                    <a:pt x="4529201" y="3691001"/>
                  </a:cubicBezTo>
                  <a:lnTo>
                    <a:pt x="442976" y="3691001"/>
                  </a:lnTo>
                  <a:cubicBezTo>
                    <a:pt x="198247" y="3691001"/>
                    <a:pt x="0" y="3492627"/>
                    <a:pt x="0" y="3248025"/>
                  </a:cubicBezTo>
                  <a:close/>
                </a:path>
              </a:pathLst>
            </a:custGeom>
            <a:solidFill>
              <a:srgbClr val="192739"/>
            </a:solidFill>
            <a:ln w="22878" cap="sq">
              <a:solidFill>
                <a:srgbClr val="3CD2BE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2539441"/>
            <a:ext cx="3706216" cy="631431"/>
            <a:chOff x="0" y="0"/>
            <a:chExt cx="4941621" cy="8419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41697" cy="842010"/>
            </a:xfrm>
            <a:custGeom>
              <a:avLst/>
              <a:gdLst/>
              <a:ahLst/>
              <a:cxnLst/>
              <a:rect r="r" b="b" t="t" l="l"/>
              <a:pathLst>
                <a:path h="842010" w="4941697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840605" y="0"/>
                  </a:lnTo>
                  <a:cubicBezTo>
                    <a:pt x="4896358" y="0"/>
                    <a:pt x="4941697" y="45212"/>
                    <a:pt x="4941697" y="101092"/>
                  </a:cubicBezTo>
                  <a:lnTo>
                    <a:pt x="4941697" y="740918"/>
                  </a:lnTo>
                  <a:cubicBezTo>
                    <a:pt x="4941697" y="796671"/>
                    <a:pt x="4896485" y="842010"/>
                    <a:pt x="4840605" y="842010"/>
                  </a:cubicBezTo>
                  <a:lnTo>
                    <a:pt x="101092" y="842010"/>
                  </a:lnTo>
                  <a:cubicBezTo>
                    <a:pt x="45212" y="841883"/>
                    <a:pt x="0" y="796671"/>
                    <a:pt x="0" y="740918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25550" y="2704148"/>
            <a:ext cx="3376860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ARTIST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64" y="3431657"/>
            <a:ext cx="3184684" cy="172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PK  Artist_ID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     Artist_Name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36080" y="2528002"/>
            <a:ext cx="4140898" cy="2768222"/>
            <a:chOff x="0" y="0"/>
            <a:chExt cx="5521198" cy="36909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521198" cy="3691001"/>
            </a:xfrm>
            <a:custGeom>
              <a:avLst/>
              <a:gdLst/>
              <a:ahLst/>
              <a:cxnLst/>
              <a:rect r="r" b="b" t="t" l="l"/>
              <a:pathLst>
                <a:path h="3691001" w="5521198">
                  <a:moveTo>
                    <a:pt x="0" y="442976"/>
                  </a:moveTo>
                  <a:cubicBezTo>
                    <a:pt x="0" y="198247"/>
                    <a:pt x="198247" y="0"/>
                    <a:pt x="442976" y="0"/>
                  </a:cubicBezTo>
                  <a:lnTo>
                    <a:pt x="5078222" y="0"/>
                  </a:lnTo>
                  <a:cubicBezTo>
                    <a:pt x="5322824" y="0"/>
                    <a:pt x="5521198" y="198247"/>
                    <a:pt x="5521198" y="442976"/>
                  </a:cubicBezTo>
                  <a:lnTo>
                    <a:pt x="5521198" y="3248025"/>
                  </a:lnTo>
                  <a:cubicBezTo>
                    <a:pt x="5521198" y="3492627"/>
                    <a:pt x="5322951" y="3691001"/>
                    <a:pt x="5078222" y="3691001"/>
                  </a:cubicBezTo>
                  <a:lnTo>
                    <a:pt x="442976" y="3691001"/>
                  </a:lnTo>
                  <a:cubicBezTo>
                    <a:pt x="198247" y="3691001"/>
                    <a:pt x="0" y="3492627"/>
                    <a:pt x="0" y="3248025"/>
                  </a:cubicBezTo>
                  <a:close/>
                </a:path>
              </a:pathLst>
            </a:custGeom>
            <a:solidFill>
              <a:srgbClr val="192739"/>
            </a:solidFill>
            <a:ln w="22878" cap="sq">
              <a:solidFill>
                <a:srgbClr val="FFC65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147520" y="2539441"/>
            <a:ext cx="4118019" cy="631431"/>
            <a:chOff x="0" y="0"/>
            <a:chExt cx="5490693" cy="841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90718" cy="842010"/>
            </a:xfrm>
            <a:custGeom>
              <a:avLst/>
              <a:gdLst/>
              <a:ahLst/>
              <a:cxnLst/>
              <a:rect r="r" b="b" t="t" l="l"/>
              <a:pathLst>
                <a:path h="842010" w="5490718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5389626" y="0"/>
                  </a:lnTo>
                  <a:cubicBezTo>
                    <a:pt x="5445379" y="0"/>
                    <a:pt x="5490718" y="45212"/>
                    <a:pt x="5490718" y="101092"/>
                  </a:cubicBezTo>
                  <a:lnTo>
                    <a:pt x="5490718" y="740918"/>
                  </a:lnTo>
                  <a:cubicBezTo>
                    <a:pt x="5490718" y="796671"/>
                    <a:pt x="5445506" y="842010"/>
                    <a:pt x="5389626" y="842010"/>
                  </a:cubicBezTo>
                  <a:lnTo>
                    <a:pt x="101092" y="842010"/>
                  </a:lnTo>
                  <a:cubicBezTo>
                    <a:pt x="45212" y="841883"/>
                    <a:pt x="0" y="796671"/>
                    <a:pt x="0" y="740918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312197" y="2704148"/>
            <a:ext cx="3788664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SONG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22011" y="3431657"/>
            <a:ext cx="3596488" cy="172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PK  Song_ID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     Title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     Duration_Seconds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FK  Artist_ID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34531" y="2528002"/>
            <a:ext cx="3523193" cy="2768222"/>
            <a:chOff x="0" y="0"/>
            <a:chExt cx="4697590" cy="36909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97603" cy="3691001"/>
            </a:xfrm>
            <a:custGeom>
              <a:avLst/>
              <a:gdLst/>
              <a:ahLst/>
              <a:cxnLst/>
              <a:rect r="r" b="b" t="t" l="l"/>
              <a:pathLst>
                <a:path h="3691001" w="4697603">
                  <a:moveTo>
                    <a:pt x="0" y="442976"/>
                  </a:moveTo>
                  <a:cubicBezTo>
                    <a:pt x="0" y="198247"/>
                    <a:pt x="198247" y="0"/>
                    <a:pt x="442976" y="0"/>
                  </a:cubicBezTo>
                  <a:lnTo>
                    <a:pt x="4254627" y="0"/>
                  </a:lnTo>
                  <a:cubicBezTo>
                    <a:pt x="4499229" y="0"/>
                    <a:pt x="4697603" y="198247"/>
                    <a:pt x="4697603" y="442976"/>
                  </a:cubicBezTo>
                  <a:lnTo>
                    <a:pt x="4697603" y="3248025"/>
                  </a:lnTo>
                  <a:cubicBezTo>
                    <a:pt x="4697603" y="3492627"/>
                    <a:pt x="4499356" y="3691001"/>
                    <a:pt x="4254627" y="3691001"/>
                  </a:cubicBezTo>
                  <a:lnTo>
                    <a:pt x="442976" y="3691001"/>
                  </a:lnTo>
                  <a:cubicBezTo>
                    <a:pt x="198247" y="3691001"/>
                    <a:pt x="0" y="3492627"/>
                    <a:pt x="0" y="3248025"/>
                  </a:cubicBezTo>
                  <a:close/>
                </a:path>
              </a:pathLst>
            </a:custGeom>
            <a:solidFill>
              <a:srgbClr val="192739"/>
            </a:solidFill>
            <a:ln w="22878" cap="sq">
              <a:solidFill>
                <a:srgbClr val="70B1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745970" y="2539441"/>
            <a:ext cx="3500314" cy="631431"/>
            <a:chOff x="0" y="0"/>
            <a:chExt cx="4667085" cy="8419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67123" cy="842010"/>
            </a:xfrm>
            <a:custGeom>
              <a:avLst/>
              <a:gdLst/>
              <a:ahLst/>
              <a:cxnLst/>
              <a:rect r="r" b="b" t="t" l="l"/>
              <a:pathLst>
                <a:path h="842010" w="4667123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566031" y="0"/>
                  </a:lnTo>
                  <a:cubicBezTo>
                    <a:pt x="4621784" y="0"/>
                    <a:pt x="4667123" y="45212"/>
                    <a:pt x="4667123" y="101092"/>
                  </a:cubicBezTo>
                  <a:lnTo>
                    <a:pt x="4667123" y="740918"/>
                  </a:lnTo>
                  <a:cubicBezTo>
                    <a:pt x="4667123" y="796671"/>
                    <a:pt x="4621911" y="842010"/>
                    <a:pt x="4566031" y="842010"/>
                  </a:cubicBezTo>
                  <a:lnTo>
                    <a:pt x="101092" y="842010"/>
                  </a:lnTo>
                  <a:cubicBezTo>
                    <a:pt x="45212" y="841883"/>
                    <a:pt x="0" y="796671"/>
                    <a:pt x="0" y="740918"/>
                  </a:cubicBezTo>
                  <a:close/>
                </a:path>
              </a:pathLst>
            </a:custGeom>
            <a:solidFill>
              <a:srgbClr val="70B1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10648" y="2704148"/>
            <a:ext cx="3170958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PLAYLIST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20462" y="3431657"/>
            <a:ext cx="2978782" cy="172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PK  Playlist_ID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     Playlist_Name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646648" y="2528002"/>
            <a:ext cx="3729095" cy="2768222"/>
            <a:chOff x="0" y="0"/>
            <a:chExt cx="4972126" cy="36909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72177" cy="3691001"/>
            </a:xfrm>
            <a:custGeom>
              <a:avLst/>
              <a:gdLst/>
              <a:ahLst/>
              <a:cxnLst/>
              <a:rect r="r" b="b" t="t" l="l"/>
              <a:pathLst>
                <a:path h="3691001" w="4972177">
                  <a:moveTo>
                    <a:pt x="0" y="442976"/>
                  </a:moveTo>
                  <a:cubicBezTo>
                    <a:pt x="0" y="198247"/>
                    <a:pt x="198247" y="0"/>
                    <a:pt x="442976" y="0"/>
                  </a:cubicBezTo>
                  <a:lnTo>
                    <a:pt x="4529201" y="0"/>
                  </a:lnTo>
                  <a:cubicBezTo>
                    <a:pt x="4773803" y="0"/>
                    <a:pt x="4972177" y="198247"/>
                    <a:pt x="4972177" y="442976"/>
                  </a:cubicBezTo>
                  <a:lnTo>
                    <a:pt x="4972177" y="3248025"/>
                  </a:lnTo>
                  <a:cubicBezTo>
                    <a:pt x="4972177" y="3492627"/>
                    <a:pt x="4773930" y="3691001"/>
                    <a:pt x="4529201" y="3691001"/>
                  </a:cubicBezTo>
                  <a:lnTo>
                    <a:pt x="442976" y="3691001"/>
                  </a:lnTo>
                  <a:cubicBezTo>
                    <a:pt x="198247" y="3691001"/>
                    <a:pt x="0" y="3492627"/>
                    <a:pt x="0" y="3248025"/>
                  </a:cubicBezTo>
                  <a:close/>
                </a:path>
              </a:pathLst>
            </a:custGeom>
            <a:solidFill>
              <a:srgbClr val="192739"/>
            </a:solidFill>
            <a:ln w="22878" cap="sq">
              <a:solidFill>
                <a:srgbClr val="FF849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658088" y="2539441"/>
            <a:ext cx="3706216" cy="631431"/>
            <a:chOff x="0" y="0"/>
            <a:chExt cx="4941621" cy="8419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41697" cy="842010"/>
            </a:xfrm>
            <a:custGeom>
              <a:avLst/>
              <a:gdLst/>
              <a:ahLst/>
              <a:cxnLst/>
              <a:rect r="r" b="b" t="t" l="l"/>
              <a:pathLst>
                <a:path h="842010" w="4941697">
                  <a:moveTo>
                    <a:pt x="0" y="101092"/>
                  </a:moveTo>
                  <a:cubicBezTo>
                    <a:pt x="0" y="45212"/>
                    <a:pt x="45212" y="0"/>
                    <a:pt x="101092" y="0"/>
                  </a:cubicBezTo>
                  <a:lnTo>
                    <a:pt x="4840605" y="0"/>
                  </a:lnTo>
                  <a:cubicBezTo>
                    <a:pt x="4896358" y="0"/>
                    <a:pt x="4941697" y="45212"/>
                    <a:pt x="4941697" y="101092"/>
                  </a:cubicBezTo>
                  <a:lnTo>
                    <a:pt x="4941697" y="740918"/>
                  </a:lnTo>
                  <a:cubicBezTo>
                    <a:pt x="4941697" y="796671"/>
                    <a:pt x="4896485" y="842010"/>
                    <a:pt x="4840605" y="842010"/>
                  </a:cubicBezTo>
                  <a:lnTo>
                    <a:pt x="101092" y="842010"/>
                  </a:lnTo>
                  <a:cubicBezTo>
                    <a:pt x="45212" y="841883"/>
                    <a:pt x="0" y="796671"/>
                    <a:pt x="0" y="740918"/>
                  </a:cubicBezTo>
                  <a:close/>
                </a:path>
              </a:pathLst>
            </a:custGeom>
            <a:solidFill>
              <a:srgbClr val="FF849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822766" y="2704148"/>
            <a:ext cx="3376860" cy="27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PLAYLIST_SONG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32579" y="3431657"/>
            <a:ext cx="3184684" cy="172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PK/FK  Playlist_ID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PK/FK  Song_ID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          Position</a:t>
            </a:r>
          </a:p>
        </p:txBody>
      </p:sp>
      <p:sp>
        <p:nvSpPr>
          <p:cNvPr name="AutoShape 31" id="31"/>
          <p:cNvSpPr/>
          <p:nvPr/>
        </p:nvSpPr>
        <p:spPr>
          <a:xfrm rot="252300">
            <a:off x="4647324" y="3971230"/>
            <a:ext cx="519970" cy="0"/>
          </a:xfrm>
          <a:prstGeom prst="line">
            <a:avLst/>
          </a:prstGeom>
          <a:ln cap="rnd" w="19050">
            <a:solidFill>
              <a:srgbClr val="3CD2B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290640">
            <a:off x="13226415" y="3971230"/>
            <a:ext cx="451542" cy="0"/>
          </a:xfrm>
          <a:prstGeom prst="line">
            <a:avLst/>
          </a:prstGeom>
          <a:ln cap="rnd" w="19050">
            <a:solidFill>
              <a:srgbClr val="3CD2B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166774" y="6177029"/>
            <a:ext cx="7686961" cy="1715843"/>
            <a:chOff x="0" y="0"/>
            <a:chExt cx="10249281" cy="22877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9408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249408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9974834" y="0"/>
                  </a:lnTo>
                  <a:cubicBezTo>
                    <a:pt x="10126472" y="0"/>
                    <a:pt x="10249408" y="122936"/>
                    <a:pt x="10249408" y="274574"/>
                  </a:cubicBezTo>
                  <a:lnTo>
                    <a:pt x="10249408" y="2013204"/>
                  </a:lnTo>
                  <a:cubicBezTo>
                    <a:pt x="10249408" y="2164842"/>
                    <a:pt x="10126472" y="2287778"/>
                    <a:pt x="9974834" y="2287778"/>
                  </a:cubicBezTo>
                  <a:lnTo>
                    <a:pt x="274574" y="2287778"/>
                  </a:lnTo>
                  <a:cubicBezTo>
                    <a:pt x="122936" y="2287778"/>
                    <a:pt x="0" y="2164842"/>
                    <a:pt x="0" y="2013204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66774" y="6177029"/>
            <a:ext cx="96088" cy="1715843"/>
            <a:chOff x="0" y="0"/>
            <a:chExt cx="128118" cy="2287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143" cy="2287778"/>
            </a:xfrm>
            <a:custGeom>
              <a:avLst/>
              <a:gdLst/>
              <a:ahLst/>
              <a:cxnLst/>
              <a:rect r="r" b="b" t="t" l="l"/>
              <a:pathLst>
                <a:path h="228777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523619" y="6410363"/>
            <a:ext cx="7028164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PRIMARY KEYS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23619" y="7000608"/>
            <a:ext cx="7028164" cy="7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Each row has an identifier; PLAYLIST_SONG uses a composite key.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334176" y="6177029"/>
            <a:ext cx="7686961" cy="1715843"/>
            <a:chOff x="0" y="0"/>
            <a:chExt cx="10249281" cy="22877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9408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249408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9974834" y="0"/>
                  </a:lnTo>
                  <a:cubicBezTo>
                    <a:pt x="10126472" y="0"/>
                    <a:pt x="10249408" y="122936"/>
                    <a:pt x="10249408" y="274574"/>
                  </a:cubicBezTo>
                  <a:lnTo>
                    <a:pt x="10249408" y="2013204"/>
                  </a:lnTo>
                  <a:cubicBezTo>
                    <a:pt x="10249408" y="2164842"/>
                    <a:pt x="10126472" y="2287778"/>
                    <a:pt x="9974834" y="2287778"/>
                  </a:cubicBezTo>
                  <a:lnTo>
                    <a:pt x="274574" y="2287778"/>
                  </a:lnTo>
                  <a:cubicBezTo>
                    <a:pt x="122936" y="2287778"/>
                    <a:pt x="0" y="2164842"/>
                    <a:pt x="0" y="2013204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34176" y="6177029"/>
            <a:ext cx="96088" cy="1715843"/>
            <a:chOff x="0" y="0"/>
            <a:chExt cx="128118" cy="2287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143" cy="2287778"/>
            </a:xfrm>
            <a:custGeom>
              <a:avLst/>
              <a:gdLst/>
              <a:ahLst/>
              <a:cxnLst/>
              <a:rect r="r" b="b" t="t" l="l"/>
              <a:pathLst>
                <a:path h="2287778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FFC65C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691021" y="6410363"/>
            <a:ext cx="7028164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FOREIGN KEYS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91021" y="7000608"/>
            <a:ext cx="7028164" cy="7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Links enforce valid artist, song, and playlist relationships.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0266" y="8634089"/>
            <a:ext cx="15676007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Constraints also support unique names, valid durations, and unique positions within a playlist.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06 / DATABASE LAYER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SQL implementation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9500" y="2470814"/>
            <a:ext cx="5284784" cy="2402176"/>
            <a:chOff x="0" y="0"/>
            <a:chExt cx="7046379" cy="3202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46341" cy="3202813"/>
            </a:xfrm>
            <a:custGeom>
              <a:avLst/>
              <a:gdLst/>
              <a:ahLst/>
              <a:cxnLst/>
              <a:rect r="r" b="b" t="t" l="l"/>
              <a:pathLst>
                <a:path h="3202813" w="7046341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6662039" y="0"/>
                  </a:lnTo>
                  <a:cubicBezTo>
                    <a:pt x="6874256" y="0"/>
                    <a:pt x="7046341" y="172085"/>
                    <a:pt x="7046341" y="384302"/>
                  </a:cubicBezTo>
                  <a:lnTo>
                    <a:pt x="7046341" y="2818511"/>
                  </a:lnTo>
                  <a:cubicBezTo>
                    <a:pt x="7046341" y="3030728"/>
                    <a:pt x="6874256" y="3202813"/>
                    <a:pt x="6662039" y="3202813"/>
                  </a:cubicBezTo>
                  <a:lnTo>
                    <a:pt x="384302" y="3202813"/>
                  </a:lnTo>
                  <a:cubicBezTo>
                    <a:pt x="172085" y="3202940"/>
                    <a:pt x="0" y="3030855"/>
                    <a:pt x="0" y="2818511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9500" y="2470814"/>
            <a:ext cx="96088" cy="2402176"/>
            <a:chOff x="0" y="0"/>
            <a:chExt cx="128118" cy="32029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43" cy="3202940"/>
            </a:xfrm>
            <a:custGeom>
              <a:avLst/>
              <a:gdLst/>
              <a:ahLst/>
              <a:cxnLst/>
              <a:rect r="r" b="b" t="t" l="l"/>
              <a:pathLst>
                <a:path h="320294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86354" y="2704148"/>
            <a:ext cx="4625988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DDL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6354" y="3284868"/>
            <a:ext cx="4625988" cy="142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CREATE TABLE statements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Primary &amp; foreign keys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UNIQUE and CHECK constraints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0196" y="2470814"/>
            <a:ext cx="5284784" cy="2402176"/>
            <a:chOff x="0" y="0"/>
            <a:chExt cx="7046379" cy="32029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6341" cy="3202813"/>
            </a:xfrm>
            <a:custGeom>
              <a:avLst/>
              <a:gdLst/>
              <a:ahLst/>
              <a:cxnLst/>
              <a:rect r="r" b="b" t="t" l="l"/>
              <a:pathLst>
                <a:path h="3202813" w="7046341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6662039" y="0"/>
                  </a:lnTo>
                  <a:cubicBezTo>
                    <a:pt x="6874256" y="0"/>
                    <a:pt x="7046341" y="172085"/>
                    <a:pt x="7046341" y="384302"/>
                  </a:cubicBezTo>
                  <a:lnTo>
                    <a:pt x="7046341" y="2818511"/>
                  </a:lnTo>
                  <a:cubicBezTo>
                    <a:pt x="7046341" y="3030728"/>
                    <a:pt x="6874256" y="3202813"/>
                    <a:pt x="6662039" y="3202813"/>
                  </a:cubicBezTo>
                  <a:lnTo>
                    <a:pt x="384302" y="3202813"/>
                  </a:lnTo>
                  <a:cubicBezTo>
                    <a:pt x="172085" y="3202940"/>
                    <a:pt x="0" y="3030855"/>
                    <a:pt x="0" y="2818511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520196" y="2470814"/>
            <a:ext cx="96088" cy="2402176"/>
            <a:chOff x="0" y="0"/>
            <a:chExt cx="128118" cy="32029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43" cy="3202940"/>
            </a:xfrm>
            <a:custGeom>
              <a:avLst/>
              <a:gdLst/>
              <a:ahLst/>
              <a:cxnLst/>
              <a:rect r="r" b="b" t="t" l="l"/>
              <a:pathLst>
                <a:path h="320294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FFC65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877050" y="2704148"/>
            <a:ext cx="4625988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DML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77050" y="3284868"/>
            <a:ext cx="4625988" cy="142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Queries with JOINs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Filtering and sorting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Aggregation and reports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10882" y="2470814"/>
            <a:ext cx="5284784" cy="2402176"/>
            <a:chOff x="0" y="0"/>
            <a:chExt cx="7046379" cy="32029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6341" cy="3202813"/>
            </a:xfrm>
            <a:custGeom>
              <a:avLst/>
              <a:gdLst/>
              <a:ahLst/>
              <a:cxnLst/>
              <a:rect r="r" b="b" t="t" l="l"/>
              <a:pathLst>
                <a:path h="3202813" w="7046341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6662039" y="0"/>
                  </a:lnTo>
                  <a:cubicBezTo>
                    <a:pt x="6874256" y="0"/>
                    <a:pt x="7046341" y="172085"/>
                    <a:pt x="7046341" y="384302"/>
                  </a:cubicBezTo>
                  <a:lnTo>
                    <a:pt x="7046341" y="2818511"/>
                  </a:lnTo>
                  <a:cubicBezTo>
                    <a:pt x="7046341" y="3030728"/>
                    <a:pt x="6874256" y="3202813"/>
                    <a:pt x="6662039" y="3202813"/>
                  </a:cubicBezTo>
                  <a:lnTo>
                    <a:pt x="384302" y="3202813"/>
                  </a:lnTo>
                  <a:cubicBezTo>
                    <a:pt x="172085" y="3202940"/>
                    <a:pt x="0" y="3030855"/>
                    <a:pt x="0" y="2818511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10882" y="2470814"/>
            <a:ext cx="96088" cy="2402176"/>
            <a:chOff x="0" y="0"/>
            <a:chExt cx="128118" cy="32029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43" cy="3202940"/>
            </a:xfrm>
            <a:custGeom>
              <a:avLst/>
              <a:gdLst/>
              <a:ahLst/>
              <a:cxnLst/>
              <a:rect r="r" b="b" t="t" l="l"/>
              <a:pathLst>
                <a:path h="320294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70B1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67736" y="2704148"/>
            <a:ext cx="4625988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DATA IMPORT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67736" y="3284868"/>
            <a:ext cx="4625988" cy="1423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Playlist data loaded from CSV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Song order retained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Repeated songs can be shared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1638" y="5655383"/>
            <a:ext cx="15264203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EXAMPLE QUERY PATTERN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6698" y="6234217"/>
            <a:ext cx="16083143" cy="2013252"/>
            <a:chOff x="0" y="0"/>
            <a:chExt cx="21444191" cy="2684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44204" cy="2684272"/>
            </a:xfrm>
            <a:custGeom>
              <a:avLst/>
              <a:gdLst/>
              <a:ahLst/>
              <a:cxnLst/>
              <a:rect r="r" b="b" t="t" l="l"/>
              <a:pathLst>
                <a:path h="2684272" w="21444204">
                  <a:moveTo>
                    <a:pt x="0" y="322072"/>
                  </a:moveTo>
                  <a:cubicBezTo>
                    <a:pt x="0" y="144272"/>
                    <a:pt x="144272" y="0"/>
                    <a:pt x="322072" y="0"/>
                  </a:cubicBezTo>
                  <a:lnTo>
                    <a:pt x="21122132" y="0"/>
                  </a:lnTo>
                  <a:cubicBezTo>
                    <a:pt x="21300060" y="0"/>
                    <a:pt x="21444204" y="144272"/>
                    <a:pt x="21444204" y="322072"/>
                  </a:cubicBezTo>
                  <a:lnTo>
                    <a:pt x="21444204" y="2362200"/>
                  </a:lnTo>
                  <a:cubicBezTo>
                    <a:pt x="21444204" y="2540127"/>
                    <a:pt x="21299932" y="2684272"/>
                    <a:pt x="21122132" y="2684272"/>
                  </a:cubicBezTo>
                  <a:lnTo>
                    <a:pt x="322072" y="2684272"/>
                  </a:lnTo>
                  <a:cubicBezTo>
                    <a:pt x="144272" y="2684399"/>
                    <a:pt x="0" y="2540127"/>
                    <a:pt x="0" y="2362200"/>
                  </a:cubicBezTo>
                  <a:close/>
                </a:path>
              </a:pathLst>
            </a:custGeom>
            <a:solidFill>
              <a:srgbClr val="080F19"/>
            </a:solidFill>
            <a:ln w="22878" cap="sq">
              <a:solidFill>
                <a:srgbClr val="3CD2BE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564805" y="6578156"/>
            <a:ext cx="14989664" cy="128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F5DA"/>
                </a:solidFill>
                <a:latin typeface="Consolas"/>
                <a:ea typeface="Consolas"/>
                <a:cs typeface="Consolas"/>
                <a:sym typeface="Consolas"/>
              </a:rPr>
              <a:t>SELECT ps.position, s.title, a.artist_name, s.duration_seconds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F5DA"/>
                </a:solidFill>
                <a:latin typeface="Consolas"/>
                <a:ea typeface="Consolas"/>
                <a:cs typeface="Consolas"/>
                <a:sym typeface="Consolas"/>
              </a:rPr>
              <a:t>FROM playlist_song ps JOIN song s ON ps.song_id = s.song_id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F5DA"/>
                </a:solidFill>
                <a:latin typeface="Consolas"/>
                <a:ea typeface="Consolas"/>
                <a:cs typeface="Consolas"/>
                <a:sym typeface="Consolas"/>
              </a:rPr>
              <a:t>JOIN artist a ON s.artist_id = a.artist_id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A6F5DA"/>
                </a:solidFill>
                <a:latin typeface="Consolas"/>
                <a:ea typeface="Consolas"/>
                <a:cs typeface="Consolas"/>
                <a:sym typeface="Consolas"/>
              </a:rPr>
              <a:t>WHERE ps.playlist_id = ? ORDER BY ps.position;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0266" y="8702726"/>
            <a:ext cx="15401468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Parameterized values should be used by the application for safe query execution.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07 / QUERY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What the SQL layer can answer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8137" y="2539441"/>
            <a:ext cx="5147520" cy="2223726"/>
            <a:chOff x="0" y="0"/>
            <a:chExt cx="6863359" cy="2964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3461" cy="2965069"/>
            </a:xfrm>
            <a:custGeom>
              <a:avLst/>
              <a:gdLst/>
              <a:ahLst/>
              <a:cxnLst/>
              <a:rect r="r" b="b" t="t" l="l"/>
              <a:pathLst>
                <a:path h="2965069" w="6863461">
                  <a:moveTo>
                    <a:pt x="0" y="355854"/>
                  </a:moveTo>
                  <a:cubicBezTo>
                    <a:pt x="0" y="159258"/>
                    <a:pt x="159258" y="0"/>
                    <a:pt x="355854" y="0"/>
                  </a:cubicBezTo>
                  <a:lnTo>
                    <a:pt x="6507607" y="0"/>
                  </a:lnTo>
                  <a:cubicBezTo>
                    <a:pt x="6704075" y="0"/>
                    <a:pt x="6863461" y="159258"/>
                    <a:pt x="6863461" y="355854"/>
                  </a:cubicBezTo>
                  <a:lnTo>
                    <a:pt x="6863461" y="2609215"/>
                  </a:lnTo>
                  <a:cubicBezTo>
                    <a:pt x="6863461" y="2805684"/>
                    <a:pt x="6704202" y="2965069"/>
                    <a:pt x="6507607" y="2965069"/>
                  </a:cubicBezTo>
                  <a:lnTo>
                    <a:pt x="355854" y="2965069"/>
                  </a:lnTo>
                  <a:cubicBezTo>
                    <a:pt x="159258" y="2964942"/>
                    <a:pt x="0" y="2805684"/>
                    <a:pt x="0" y="2609215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2539441"/>
            <a:ext cx="96088" cy="2223726"/>
            <a:chOff x="0" y="0"/>
            <a:chExt cx="128118" cy="29649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54991" y="2772775"/>
            <a:ext cx="4488723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Playlist contents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4991" y="3363030"/>
            <a:ext cx="4488723" cy="1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List songs in original position order.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794725" y="2539441"/>
            <a:ext cx="5147520" cy="2223726"/>
            <a:chOff x="0" y="0"/>
            <a:chExt cx="6863359" cy="29649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63461" cy="2965069"/>
            </a:xfrm>
            <a:custGeom>
              <a:avLst/>
              <a:gdLst/>
              <a:ahLst/>
              <a:cxnLst/>
              <a:rect r="r" b="b" t="t" l="l"/>
              <a:pathLst>
                <a:path h="2965069" w="6863461">
                  <a:moveTo>
                    <a:pt x="0" y="355854"/>
                  </a:moveTo>
                  <a:cubicBezTo>
                    <a:pt x="0" y="159258"/>
                    <a:pt x="159258" y="0"/>
                    <a:pt x="355854" y="0"/>
                  </a:cubicBezTo>
                  <a:lnTo>
                    <a:pt x="6507607" y="0"/>
                  </a:lnTo>
                  <a:cubicBezTo>
                    <a:pt x="6704075" y="0"/>
                    <a:pt x="6863461" y="159258"/>
                    <a:pt x="6863461" y="355854"/>
                  </a:cubicBezTo>
                  <a:lnTo>
                    <a:pt x="6863461" y="2609215"/>
                  </a:lnTo>
                  <a:cubicBezTo>
                    <a:pt x="6863461" y="2805684"/>
                    <a:pt x="6704202" y="2965069"/>
                    <a:pt x="6507607" y="2965069"/>
                  </a:cubicBezTo>
                  <a:lnTo>
                    <a:pt x="355854" y="2965069"/>
                  </a:lnTo>
                  <a:cubicBezTo>
                    <a:pt x="159258" y="2964942"/>
                    <a:pt x="0" y="2805684"/>
                    <a:pt x="0" y="2609215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94725" y="2539441"/>
            <a:ext cx="96088" cy="2223726"/>
            <a:chOff x="0" y="0"/>
            <a:chExt cx="128118" cy="29649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FFC65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151580" y="2772775"/>
            <a:ext cx="4488723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Title search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51580" y="3363030"/>
            <a:ext cx="4488723" cy="1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Find songs containing a keyword.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491323" y="2539441"/>
            <a:ext cx="5147520" cy="2223726"/>
            <a:chOff x="0" y="0"/>
            <a:chExt cx="6863359" cy="29649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63461" cy="2965069"/>
            </a:xfrm>
            <a:custGeom>
              <a:avLst/>
              <a:gdLst/>
              <a:ahLst/>
              <a:cxnLst/>
              <a:rect r="r" b="b" t="t" l="l"/>
              <a:pathLst>
                <a:path h="2965069" w="6863461">
                  <a:moveTo>
                    <a:pt x="0" y="355854"/>
                  </a:moveTo>
                  <a:cubicBezTo>
                    <a:pt x="0" y="159258"/>
                    <a:pt x="159258" y="0"/>
                    <a:pt x="355854" y="0"/>
                  </a:cubicBezTo>
                  <a:lnTo>
                    <a:pt x="6507607" y="0"/>
                  </a:lnTo>
                  <a:cubicBezTo>
                    <a:pt x="6704075" y="0"/>
                    <a:pt x="6863461" y="159258"/>
                    <a:pt x="6863461" y="355854"/>
                  </a:cubicBezTo>
                  <a:lnTo>
                    <a:pt x="6863461" y="2609215"/>
                  </a:lnTo>
                  <a:cubicBezTo>
                    <a:pt x="6863461" y="2805684"/>
                    <a:pt x="6704202" y="2965069"/>
                    <a:pt x="6507607" y="2965069"/>
                  </a:cubicBezTo>
                  <a:lnTo>
                    <a:pt x="355854" y="2965069"/>
                  </a:lnTo>
                  <a:cubicBezTo>
                    <a:pt x="159258" y="2964942"/>
                    <a:pt x="0" y="2805684"/>
                    <a:pt x="0" y="2609215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491323" y="2539441"/>
            <a:ext cx="96088" cy="2223726"/>
            <a:chOff x="0" y="0"/>
            <a:chExt cx="128118" cy="29649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70B1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48168" y="2772775"/>
            <a:ext cx="4488723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Artist catalogue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48168" y="3363030"/>
            <a:ext cx="4488723" cy="1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List songs by a selected artist.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98137" y="5353421"/>
            <a:ext cx="5147520" cy="2223726"/>
            <a:chOff x="0" y="0"/>
            <a:chExt cx="6863359" cy="29649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63461" cy="2965069"/>
            </a:xfrm>
            <a:custGeom>
              <a:avLst/>
              <a:gdLst/>
              <a:ahLst/>
              <a:cxnLst/>
              <a:rect r="r" b="b" t="t" l="l"/>
              <a:pathLst>
                <a:path h="2965069" w="6863461">
                  <a:moveTo>
                    <a:pt x="0" y="355854"/>
                  </a:moveTo>
                  <a:cubicBezTo>
                    <a:pt x="0" y="159258"/>
                    <a:pt x="159258" y="0"/>
                    <a:pt x="355854" y="0"/>
                  </a:cubicBezTo>
                  <a:lnTo>
                    <a:pt x="6507607" y="0"/>
                  </a:lnTo>
                  <a:cubicBezTo>
                    <a:pt x="6704075" y="0"/>
                    <a:pt x="6863461" y="159258"/>
                    <a:pt x="6863461" y="355854"/>
                  </a:cubicBezTo>
                  <a:lnTo>
                    <a:pt x="6863461" y="2609215"/>
                  </a:lnTo>
                  <a:cubicBezTo>
                    <a:pt x="6863461" y="2805684"/>
                    <a:pt x="6704202" y="2965069"/>
                    <a:pt x="6507607" y="2965069"/>
                  </a:cubicBezTo>
                  <a:lnTo>
                    <a:pt x="355854" y="2965069"/>
                  </a:lnTo>
                  <a:cubicBezTo>
                    <a:pt x="159258" y="2964942"/>
                    <a:pt x="0" y="2805684"/>
                    <a:pt x="0" y="2609215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8137" y="5353421"/>
            <a:ext cx="96088" cy="2223726"/>
            <a:chOff x="0" y="0"/>
            <a:chExt cx="128118" cy="29649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FF849B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54991" y="5586755"/>
            <a:ext cx="4488723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Playlist lookup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4991" y="6177001"/>
            <a:ext cx="4488723" cy="1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Find every playlist containing a song.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794725" y="5353421"/>
            <a:ext cx="5147520" cy="2223726"/>
            <a:chOff x="0" y="0"/>
            <a:chExt cx="6863359" cy="296496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63461" cy="2965069"/>
            </a:xfrm>
            <a:custGeom>
              <a:avLst/>
              <a:gdLst/>
              <a:ahLst/>
              <a:cxnLst/>
              <a:rect r="r" b="b" t="t" l="l"/>
              <a:pathLst>
                <a:path h="2965069" w="6863461">
                  <a:moveTo>
                    <a:pt x="0" y="355854"/>
                  </a:moveTo>
                  <a:cubicBezTo>
                    <a:pt x="0" y="159258"/>
                    <a:pt x="159258" y="0"/>
                    <a:pt x="355854" y="0"/>
                  </a:cubicBezTo>
                  <a:lnTo>
                    <a:pt x="6507607" y="0"/>
                  </a:lnTo>
                  <a:cubicBezTo>
                    <a:pt x="6704075" y="0"/>
                    <a:pt x="6863461" y="159258"/>
                    <a:pt x="6863461" y="355854"/>
                  </a:cubicBezTo>
                  <a:lnTo>
                    <a:pt x="6863461" y="2609215"/>
                  </a:lnTo>
                  <a:cubicBezTo>
                    <a:pt x="6863461" y="2805684"/>
                    <a:pt x="6704202" y="2965069"/>
                    <a:pt x="6507607" y="2965069"/>
                  </a:cubicBezTo>
                  <a:lnTo>
                    <a:pt x="355854" y="2965069"/>
                  </a:lnTo>
                  <a:cubicBezTo>
                    <a:pt x="159258" y="2964942"/>
                    <a:pt x="0" y="2805684"/>
                    <a:pt x="0" y="2609215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94725" y="5353421"/>
            <a:ext cx="96088" cy="2223726"/>
            <a:chOff x="0" y="0"/>
            <a:chExt cx="128118" cy="29649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151580" y="5586755"/>
            <a:ext cx="4488723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Playlist statistics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51580" y="6177001"/>
            <a:ext cx="4488723" cy="1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Count songs and calculate total duration.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491323" y="5353421"/>
            <a:ext cx="5147520" cy="2223726"/>
            <a:chOff x="0" y="0"/>
            <a:chExt cx="6863359" cy="296496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63461" cy="2965069"/>
            </a:xfrm>
            <a:custGeom>
              <a:avLst/>
              <a:gdLst/>
              <a:ahLst/>
              <a:cxnLst/>
              <a:rect r="r" b="b" t="t" l="l"/>
              <a:pathLst>
                <a:path h="2965069" w="6863461">
                  <a:moveTo>
                    <a:pt x="0" y="355854"/>
                  </a:moveTo>
                  <a:cubicBezTo>
                    <a:pt x="0" y="159258"/>
                    <a:pt x="159258" y="0"/>
                    <a:pt x="355854" y="0"/>
                  </a:cubicBezTo>
                  <a:lnTo>
                    <a:pt x="6507607" y="0"/>
                  </a:lnTo>
                  <a:cubicBezTo>
                    <a:pt x="6704075" y="0"/>
                    <a:pt x="6863461" y="159258"/>
                    <a:pt x="6863461" y="355854"/>
                  </a:cubicBezTo>
                  <a:lnTo>
                    <a:pt x="6863461" y="2609215"/>
                  </a:lnTo>
                  <a:cubicBezTo>
                    <a:pt x="6863461" y="2805684"/>
                    <a:pt x="6704202" y="2965069"/>
                    <a:pt x="6507607" y="2965069"/>
                  </a:cubicBezTo>
                  <a:lnTo>
                    <a:pt x="355854" y="2965069"/>
                  </a:lnTo>
                  <a:cubicBezTo>
                    <a:pt x="159258" y="2964942"/>
                    <a:pt x="0" y="2805684"/>
                    <a:pt x="0" y="2609215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491323" y="5353421"/>
            <a:ext cx="96088" cy="2223726"/>
            <a:chOff x="0" y="0"/>
            <a:chExt cx="128118" cy="29649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FFC65C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848168" y="5586755"/>
            <a:ext cx="4488723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Catalogue report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848168" y="6177001"/>
            <a:ext cx="4488723" cy="123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Summarise each playlist in one result.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90266" y="8606638"/>
            <a:ext cx="15538742" cy="425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The project specification includes at least 10 English-language DML requirements mapped to application features.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08 / ADVANCED SQL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Stored programs &amp; automation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4859" y="3327204"/>
            <a:ext cx="8271470" cy="2249264"/>
            <a:chOff x="0" y="0"/>
            <a:chExt cx="10432313" cy="2836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32288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432288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0091928" y="0"/>
                  </a:lnTo>
                  <a:cubicBezTo>
                    <a:pt x="10279888" y="0"/>
                    <a:pt x="10432288" y="152400"/>
                    <a:pt x="10432288" y="340360"/>
                  </a:cubicBezTo>
                  <a:lnTo>
                    <a:pt x="10432288" y="2496439"/>
                  </a:lnTo>
                  <a:cubicBezTo>
                    <a:pt x="10432288" y="2684399"/>
                    <a:pt x="10279888" y="2836799"/>
                    <a:pt x="10091928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4859" y="3327204"/>
            <a:ext cx="101581" cy="2249264"/>
            <a:chOff x="0" y="0"/>
            <a:chExt cx="128118" cy="28368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143" cy="2836799"/>
            </a:xfrm>
            <a:custGeom>
              <a:avLst/>
              <a:gdLst/>
              <a:ahLst/>
              <a:cxnLst/>
              <a:rect r="r" b="b" t="t" l="l"/>
              <a:pathLst>
                <a:path h="2836799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32111" y="3573876"/>
            <a:ext cx="7575016" cy="44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539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2 PROCEDURES WITH CURSORS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2111" y="4197869"/>
            <a:ext cx="7575016" cy="120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063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Process result rows one at a time for playlist and artist reports.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61671" y="3327204"/>
            <a:ext cx="8271470" cy="2249264"/>
            <a:chOff x="0" y="0"/>
            <a:chExt cx="10432313" cy="28368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32288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432288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0091928" y="0"/>
                  </a:lnTo>
                  <a:cubicBezTo>
                    <a:pt x="10279888" y="0"/>
                    <a:pt x="10432288" y="152400"/>
                    <a:pt x="10432288" y="340360"/>
                  </a:cubicBezTo>
                  <a:lnTo>
                    <a:pt x="10432288" y="2496439"/>
                  </a:lnTo>
                  <a:cubicBezTo>
                    <a:pt x="10432288" y="2684399"/>
                    <a:pt x="10279888" y="2836799"/>
                    <a:pt x="10091928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61671" y="3327204"/>
            <a:ext cx="101581" cy="2249264"/>
            <a:chOff x="0" y="0"/>
            <a:chExt cx="128118" cy="28368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43" cy="2836799"/>
            </a:xfrm>
            <a:custGeom>
              <a:avLst/>
              <a:gdLst/>
              <a:ahLst/>
              <a:cxnLst/>
              <a:rect r="r" b="b" t="t" l="l"/>
              <a:pathLst>
                <a:path h="2836799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FFC65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38913" y="3573876"/>
            <a:ext cx="7575016" cy="44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539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2 FUNCTIONS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38913" y="4197869"/>
            <a:ext cx="7575016" cy="120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063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Return reusable values such as song count and total playlist duration.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4859" y="6084361"/>
            <a:ext cx="8271470" cy="2249264"/>
            <a:chOff x="0" y="0"/>
            <a:chExt cx="10432313" cy="28368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32288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432288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0091928" y="0"/>
                  </a:lnTo>
                  <a:cubicBezTo>
                    <a:pt x="10279888" y="0"/>
                    <a:pt x="10432288" y="152400"/>
                    <a:pt x="10432288" y="340360"/>
                  </a:cubicBezTo>
                  <a:lnTo>
                    <a:pt x="10432288" y="2496439"/>
                  </a:lnTo>
                  <a:cubicBezTo>
                    <a:pt x="10432288" y="2684399"/>
                    <a:pt x="10279888" y="2836799"/>
                    <a:pt x="10091928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4859" y="6084361"/>
            <a:ext cx="101581" cy="2249264"/>
            <a:chOff x="0" y="0"/>
            <a:chExt cx="128118" cy="28368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43" cy="2836799"/>
            </a:xfrm>
            <a:custGeom>
              <a:avLst/>
              <a:gdLst/>
              <a:ahLst/>
              <a:cxnLst/>
              <a:rect r="r" b="b" t="t" l="l"/>
              <a:pathLst>
                <a:path h="2836799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FF849B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32111" y="6331032"/>
            <a:ext cx="7575016" cy="44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539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2 TRIGGERS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2111" y="6955026"/>
            <a:ext cx="7575016" cy="120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063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Record deletion events in an audit table when a song or playlist is deleted.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61671" y="6084361"/>
            <a:ext cx="8271470" cy="2249264"/>
            <a:chOff x="0" y="0"/>
            <a:chExt cx="10432313" cy="28368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32288" cy="2836799"/>
            </a:xfrm>
            <a:custGeom>
              <a:avLst/>
              <a:gdLst/>
              <a:ahLst/>
              <a:cxnLst/>
              <a:rect r="r" b="b" t="t" l="l"/>
              <a:pathLst>
                <a:path h="2836799" w="10432288">
                  <a:moveTo>
                    <a:pt x="0" y="340360"/>
                  </a:moveTo>
                  <a:cubicBezTo>
                    <a:pt x="0" y="152400"/>
                    <a:pt x="152400" y="0"/>
                    <a:pt x="340360" y="0"/>
                  </a:cubicBezTo>
                  <a:lnTo>
                    <a:pt x="10091928" y="0"/>
                  </a:lnTo>
                  <a:cubicBezTo>
                    <a:pt x="10279888" y="0"/>
                    <a:pt x="10432288" y="152400"/>
                    <a:pt x="10432288" y="340360"/>
                  </a:cubicBezTo>
                  <a:lnTo>
                    <a:pt x="10432288" y="2496439"/>
                  </a:lnTo>
                  <a:cubicBezTo>
                    <a:pt x="10432288" y="2684399"/>
                    <a:pt x="10279888" y="2836799"/>
                    <a:pt x="10091928" y="2836799"/>
                  </a:cubicBezTo>
                  <a:lnTo>
                    <a:pt x="340360" y="2836799"/>
                  </a:lnTo>
                  <a:cubicBezTo>
                    <a:pt x="152400" y="2836799"/>
                    <a:pt x="0" y="2684399"/>
                    <a:pt x="0" y="2496439"/>
                  </a:cubicBezTo>
                  <a:close/>
                </a:path>
              </a:pathLst>
            </a:custGeom>
            <a:solidFill>
              <a:srgbClr val="19273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61671" y="6084361"/>
            <a:ext cx="101581" cy="2249264"/>
            <a:chOff x="0" y="0"/>
            <a:chExt cx="128118" cy="28368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8143" cy="2836799"/>
            </a:xfrm>
            <a:custGeom>
              <a:avLst/>
              <a:gdLst/>
              <a:ahLst/>
              <a:cxnLst/>
              <a:rect r="r" b="b" t="t" l="l"/>
              <a:pathLst>
                <a:path h="2836799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836799"/>
                  </a:lnTo>
                  <a:lnTo>
                    <a:pt x="0" y="2836799"/>
                  </a:lnTo>
                  <a:close/>
                </a:path>
              </a:pathLst>
            </a:custGeom>
            <a:solidFill>
              <a:srgbClr val="70B1F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738913" y="6331032"/>
            <a:ext cx="7575016" cy="449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539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CONSTRAINTS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38913" y="6955026"/>
            <a:ext cx="7575016" cy="120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063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Protect referential integrity and prevent invalid or duplicate relationship rows.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27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70968" y="3074975"/>
            <a:ext cx="76036" cy="208173"/>
            <a:chOff x="0" y="0"/>
            <a:chExt cx="80222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298" cy="219710"/>
            </a:xfrm>
            <a:custGeom>
              <a:avLst/>
              <a:gdLst/>
              <a:ahLst/>
              <a:cxnLst/>
              <a:rect r="r" b="b" t="t" l="l"/>
              <a:pathLst>
                <a:path h="219710" w="80298">
                  <a:moveTo>
                    <a:pt x="0" y="109855"/>
                  </a:moveTo>
                  <a:cubicBezTo>
                    <a:pt x="0" y="49149"/>
                    <a:pt x="17952" y="0"/>
                    <a:pt x="40125" y="0"/>
                  </a:cubicBezTo>
                  <a:cubicBezTo>
                    <a:pt x="62298" y="0"/>
                    <a:pt x="80298" y="49149"/>
                    <a:pt x="80298" y="109855"/>
                  </a:cubicBezTo>
                  <a:cubicBezTo>
                    <a:pt x="80298" y="170561"/>
                    <a:pt x="62298" y="219710"/>
                    <a:pt x="40125" y="219710"/>
                  </a:cubicBezTo>
                  <a:cubicBezTo>
                    <a:pt x="17952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70968" y="4046421"/>
            <a:ext cx="76036" cy="208173"/>
            <a:chOff x="0" y="0"/>
            <a:chExt cx="80222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298" cy="219710"/>
            </a:xfrm>
            <a:custGeom>
              <a:avLst/>
              <a:gdLst/>
              <a:ahLst/>
              <a:cxnLst/>
              <a:rect r="r" b="b" t="t" l="l"/>
              <a:pathLst>
                <a:path h="219710" w="80298">
                  <a:moveTo>
                    <a:pt x="0" y="109855"/>
                  </a:moveTo>
                  <a:cubicBezTo>
                    <a:pt x="0" y="49149"/>
                    <a:pt x="17952" y="0"/>
                    <a:pt x="40125" y="0"/>
                  </a:cubicBezTo>
                  <a:cubicBezTo>
                    <a:pt x="62298" y="0"/>
                    <a:pt x="80298" y="49149"/>
                    <a:pt x="80298" y="109855"/>
                  </a:cubicBezTo>
                  <a:cubicBezTo>
                    <a:pt x="80298" y="170561"/>
                    <a:pt x="62298" y="219710"/>
                    <a:pt x="40125" y="219710"/>
                  </a:cubicBezTo>
                  <a:cubicBezTo>
                    <a:pt x="17952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70968" y="5017867"/>
            <a:ext cx="76036" cy="208173"/>
            <a:chOff x="0" y="0"/>
            <a:chExt cx="80222" cy="2196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298" cy="219710"/>
            </a:xfrm>
            <a:custGeom>
              <a:avLst/>
              <a:gdLst/>
              <a:ahLst/>
              <a:cxnLst/>
              <a:rect r="r" b="b" t="t" l="l"/>
              <a:pathLst>
                <a:path h="219710" w="80298">
                  <a:moveTo>
                    <a:pt x="0" y="109855"/>
                  </a:moveTo>
                  <a:cubicBezTo>
                    <a:pt x="0" y="49149"/>
                    <a:pt x="17952" y="0"/>
                    <a:pt x="40125" y="0"/>
                  </a:cubicBezTo>
                  <a:cubicBezTo>
                    <a:pt x="62298" y="0"/>
                    <a:pt x="80298" y="49149"/>
                    <a:pt x="80298" y="109855"/>
                  </a:cubicBezTo>
                  <a:cubicBezTo>
                    <a:pt x="80298" y="170561"/>
                    <a:pt x="62298" y="219710"/>
                    <a:pt x="40125" y="219710"/>
                  </a:cubicBezTo>
                  <a:cubicBezTo>
                    <a:pt x="17952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70968" y="5989313"/>
            <a:ext cx="76036" cy="208173"/>
            <a:chOff x="0" y="0"/>
            <a:chExt cx="80222" cy="2196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298" cy="219710"/>
            </a:xfrm>
            <a:custGeom>
              <a:avLst/>
              <a:gdLst/>
              <a:ahLst/>
              <a:cxnLst/>
              <a:rect r="r" b="b" t="t" l="l"/>
              <a:pathLst>
                <a:path h="219710" w="80298">
                  <a:moveTo>
                    <a:pt x="0" y="109855"/>
                  </a:moveTo>
                  <a:cubicBezTo>
                    <a:pt x="0" y="49149"/>
                    <a:pt x="17952" y="0"/>
                    <a:pt x="40125" y="0"/>
                  </a:cubicBezTo>
                  <a:cubicBezTo>
                    <a:pt x="62298" y="0"/>
                    <a:pt x="80298" y="49149"/>
                    <a:pt x="80298" y="109855"/>
                  </a:cubicBezTo>
                  <a:cubicBezTo>
                    <a:pt x="80298" y="170561"/>
                    <a:pt x="62298" y="219710"/>
                    <a:pt x="40125" y="219710"/>
                  </a:cubicBezTo>
                  <a:cubicBezTo>
                    <a:pt x="17952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70968" y="6960759"/>
            <a:ext cx="76036" cy="208173"/>
            <a:chOff x="0" y="0"/>
            <a:chExt cx="80222" cy="2196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298" cy="219710"/>
            </a:xfrm>
            <a:custGeom>
              <a:avLst/>
              <a:gdLst/>
              <a:ahLst/>
              <a:cxnLst/>
              <a:rect r="r" b="b" t="t" l="l"/>
              <a:pathLst>
                <a:path h="219710" w="80298">
                  <a:moveTo>
                    <a:pt x="0" y="109855"/>
                  </a:moveTo>
                  <a:cubicBezTo>
                    <a:pt x="0" y="49149"/>
                    <a:pt x="17952" y="0"/>
                    <a:pt x="40125" y="0"/>
                  </a:cubicBezTo>
                  <a:cubicBezTo>
                    <a:pt x="62298" y="0"/>
                    <a:pt x="80298" y="49149"/>
                    <a:pt x="80298" y="109855"/>
                  </a:cubicBezTo>
                  <a:cubicBezTo>
                    <a:pt x="80298" y="170561"/>
                    <a:pt x="62298" y="219710"/>
                    <a:pt x="40125" y="219710"/>
                  </a:cubicBezTo>
                  <a:cubicBezTo>
                    <a:pt x="17952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9686" y="1839382"/>
            <a:ext cx="1125588" cy="75495"/>
            <a:chOff x="0" y="0"/>
            <a:chExt cx="1500784" cy="1006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00759" cy="100711"/>
            </a:xfrm>
            <a:custGeom>
              <a:avLst/>
              <a:gdLst/>
              <a:ahLst/>
              <a:cxnLst/>
              <a:rect r="r" b="b" t="t" l="l"/>
              <a:pathLst>
                <a:path h="100711" w="1500759">
                  <a:moveTo>
                    <a:pt x="0" y="0"/>
                  </a:moveTo>
                  <a:lnTo>
                    <a:pt x="1500759" y="0"/>
                  </a:lnTo>
                  <a:lnTo>
                    <a:pt x="1500759" y="100711"/>
                  </a:lnTo>
                  <a:lnTo>
                    <a:pt x="0" y="100711"/>
                  </a:ln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96871" y="2973005"/>
            <a:ext cx="10354481" cy="5824396"/>
          </a:xfrm>
          <a:custGeom>
            <a:avLst/>
            <a:gdLst/>
            <a:ahLst/>
            <a:cxnLst/>
            <a:rect r="r" b="b" t="t" l="l"/>
            <a:pathLst>
              <a:path h="5824396" w="10354481">
                <a:moveTo>
                  <a:pt x="0" y="0"/>
                </a:moveTo>
                <a:lnTo>
                  <a:pt x="10354481" y="0"/>
                </a:lnTo>
                <a:lnTo>
                  <a:pt x="10354481" y="5824396"/>
                </a:lnTo>
                <a:lnTo>
                  <a:pt x="0" y="5824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3CD2BE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947099" y="439236"/>
            <a:ext cx="10871654" cy="28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09 / APPLICATION LAYER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099" y="919667"/>
            <a:ext cx="16362340" cy="741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Frontend &amp; demonstration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32834" y="9745951"/>
            <a:ext cx="576605" cy="192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true">
                <a:solidFill>
                  <a:srgbClr val="B1C1CD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96293" y="2190246"/>
            <a:ext cx="2483816" cy="37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9"/>
              </a:lnSpc>
            </a:pPr>
            <a:r>
              <a:rPr lang="en-US" sz="2466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DEMO FLOW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54697" y="2970865"/>
            <a:ext cx="6285518" cy="39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5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Open the application.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54697" y="3942311"/>
            <a:ext cx="6285518" cy="39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5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Load playlists from MySQL.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54697" y="4913757"/>
            <a:ext cx="6285518" cy="39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5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Select a playlist and display songs.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54697" y="5885203"/>
            <a:ext cx="6285518" cy="39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5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Search by title or artist.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4697" y="6856649"/>
            <a:ext cx="6285518" cy="39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655">
                <a:solidFill>
                  <a:srgbClr val="F5F8FA"/>
                </a:solidFill>
                <a:latin typeface="Aptos"/>
                <a:ea typeface="Aptos"/>
                <a:cs typeface="Aptos"/>
                <a:sym typeface="Aptos"/>
              </a:rPr>
              <a:t>Show counts and total duration.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F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3001" y="988304"/>
            <a:ext cx="6753635" cy="3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3CD2BE"/>
                </a:solidFill>
                <a:latin typeface="Aptos Bold"/>
                <a:ea typeface="Aptos Bold"/>
                <a:cs typeface="Aptos Bold"/>
                <a:sym typeface="Aptos Bold"/>
              </a:rPr>
              <a:t>10 / SUMMARY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3001" y="1811903"/>
            <a:ext cx="14989664" cy="124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One playlist collection.</a:t>
            </a:r>
          </a:p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5F8FA"/>
                </a:solidFill>
                <a:latin typeface="Aptos Bold"/>
                <a:ea typeface="Aptos Bold"/>
                <a:cs typeface="Aptos Bold"/>
                <a:sym typeface="Aptos Bold"/>
              </a:rPr>
              <a:t>A structured relational model.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1638" y="4351353"/>
            <a:ext cx="13891527" cy="145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B1C1CD"/>
                </a:solidFill>
                <a:latin typeface="Aptos"/>
                <a:ea typeface="Aptos"/>
                <a:cs typeface="Aptos"/>
                <a:sym typeface="Aptos"/>
              </a:rPr>
              <a:t>The Music Playlist Management System demonstrates how relational design and SQL can organise overlapping playlists while supporting retrieval, reporting, and future GUI-based interaction.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6774" y="6520196"/>
            <a:ext cx="4392549" cy="851059"/>
            <a:chOff x="0" y="0"/>
            <a:chExt cx="5856732" cy="11347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6732" cy="1134745"/>
            </a:xfrm>
            <a:custGeom>
              <a:avLst/>
              <a:gdLst/>
              <a:ahLst/>
              <a:cxnLst/>
              <a:rect r="r" b="b" t="t" l="l"/>
              <a:pathLst>
                <a:path h="1134745" w="5856732">
                  <a:moveTo>
                    <a:pt x="0" y="136144"/>
                  </a:moveTo>
                  <a:cubicBezTo>
                    <a:pt x="0" y="60960"/>
                    <a:pt x="60960" y="0"/>
                    <a:pt x="136144" y="0"/>
                  </a:cubicBezTo>
                  <a:lnTo>
                    <a:pt x="5720588" y="0"/>
                  </a:lnTo>
                  <a:cubicBezTo>
                    <a:pt x="5795772" y="0"/>
                    <a:pt x="5856732" y="60960"/>
                    <a:pt x="5856732" y="136144"/>
                  </a:cubicBezTo>
                  <a:lnTo>
                    <a:pt x="5856732" y="998601"/>
                  </a:lnTo>
                  <a:cubicBezTo>
                    <a:pt x="5856732" y="1073785"/>
                    <a:pt x="5795772" y="1134745"/>
                    <a:pt x="5720588" y="1134745"/>
                  </a:cubicBezTo>
                  <a:lnTo>
                    <a:pt x="136144" y="1134745"/>
                  </a:lnTo>
                  <a:cubicBezTo>
                    <a:pt x="60960" y="1134745"/>
                    <a:pt x="0" y="1073785"/>
                    <a:pt x="0" y="998601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27540" y="6757730"/>
            <a:ext cx="3871027" cy="29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0F1826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726725" y="7618333"/>
            <a:ext cx="247079" cy="686333"/>
            <a:chOff x="0" y="0"/>
            <a:chExt cx="329438" cy="915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9438" cy="915036"/>
            </a:xfrm>
            <a:custGeom>
              <a:avLst/>
              <a:gdLst/>
              <a:ahLst/>
              <a:cxnLst/>
              <a:rect r="r" b="b" t="t" l="l"/>
              <a:pathLst>
                <a:path h="915036" w="329438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289941" y="0"/>
                  </a:lnTo>
                  <a:cubicBezTo>
                    <a:pt x="311785" y="0"/>
                    <a:pt x="329438" y="17653"/>
                    <a:pt x="329438" y="39497"/>
                  </a:cubicBezTo>
                  <a:lnTo>
                    <a:pt x="329438" y="875538"/>
                  </a:lnTo>
                  <a:cubicBezTo>
                    <a:pt x="329438" y="897382"/>
                    <a:pt x="311785" y="915035"/>
                    <a:pt x="289941" y="915035"/>
                  </a:cubicBezTo>
                  <a:lnTo>
                    <a:pt x="39497" y="915035"/>
                  </a:lnTo>
                  <a:cubicBezTo>
                    <a:pt x="17653" y="915162"/>
                    <a:pt x="0" y="897382"/>
                    <a:pt x="0" y="875538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07157" y="7343794"/>
            <a:ext cx="247079" cy="1235402"/>
            <a:chOff x="0" y="0"/>
            <a:chExt cx="329438" cy="16472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9438" cy="1647190"/>
            </a:xfrm>
            <a:custGeom>
              <a:avLst/>
              <a:gdLst/>
              <a:ahLst/>
              <a:cxnLst/>
              <a:rect r="r" b="b" t="t" l="l"/>
              <a:pathLst>
                <a:path h="1647190" w="329438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289941" y="0"/>
                  </a:lnTo>
                  <a:cubicBezTo>
                    <a:pt x="311785" y="0"/>
                    <a:pt x="329438" y="17653"/>
                    <a:pt x="329438" y="39497"/>
                  </a:cubicBezTo>
                  <a:lnTo>
                    <a:pt x="329438" y="1607693"/>
                  </a:lnTo>
                  <a:cubicBezTo>
                    <a:pt x="329438" y="1629537"/>
                    <a:pt x="311785" y="1647190"/>
                    <a:pt x="289941" y="1647190"/>
                  </a:cubicBezTo>
                  <a:lnTo>
                    <a:pt x="39497" y="1647190"/>
                  </a:lnTo>
                  <a:cubicBezTo>
                    <a:pt x="17653" y="1647190"/>
                    <a:pt x="0" y="1629537"/>
                    <a:pt x="0" y="1607693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87598" y="7515377"/>
            <a:ext cx="247079" cy="892235"/>
            <a:chOff x="0" y="0"/>
            <a:chExt cx="329438" cy="11896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9438" cy="1189609"/>
            </a:xfrm>
            <a:custGeom>
              <a:avLst/>
              <a:gdLst/>
              <a:ahLst/>
              <a:cxnLst/>
              <a:rect r="r" b="b" t="t" l="l"/>
              <a:pathLst>
                <a:path h="1189609" w="329438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289941" y="0"/>
                  </a:lnTo>
                  <a:cubicBezTo>
                    <a:pt x="311785" y="0"/>
                    <a:pt x="329438" y="17653"/>
                    <a:pt x="329438" y="39497"/>
                  </a:cubicBezTo>
                  <a:lnTo>
                    <a:pt x="329438" y="1150112"/>
                  </a:lnTo>
                  <a:cubicBezTo>
                    <a:pt x="329438" y="1171956"/>
                    <a:pt x="311785" y="1189609"/>
                    <a:pt x="289941" y="1189609"/>
                  </a:cubicBezTo>
                  <a:lnTo>
                    <a:pt x="39497" y="1189609"/>
                  </a:lnTo>
                  <a:cubicBezTo>
                    <a:pt x="17653" y="1189609"/>
                    <a:pt x="0" y="1171956"/>
                    <a:pt x="0" y="1150112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68029" y="7103583"/>
            <a:ext cx="247079" cy="1715843"/>
            <a:chOff x="0" y="0"/>
            <a:chExt cx="329438" cy="22877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9438" cy="2287778"/>
            </a:xfrm>
            <a:custGeom>
              <a:avLst/>
              <a:gdLst/>
              <a:ahLst/>
              <a:cxnLst/>
              <a:rect r="r" b="b" t="t" l="l"/>
              <a:pathLst>
                <a:path h="2287778" w="329438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289941" y="0"/>
                  </a:lnTo>
                  <a:cubicBezTo>
                    <a:pt x="311785" y="0"/>
                    <a:pt x="329438" y="17653"/>
                    <a:pt x="329438" y="39497"/>
                  </a:cubicBezTo>
                  <a:lnTo>
                    <a:pt x="329438" y="2248281"/>
                  </a:lnTo>
                  <a:cubicBezTo>
                    <a:pt x="329438" y="2270125"/>
                    <a:pt x="311785" y="2287778"/>
                    <a:pt x="289941" y="2287778"/>
                  </a:cubicBezTo>
                  <a:lnTo>
                    <a:pt x="39497" y="2287778"/>
                  </a:lnTo>
                  <a:cubicBezTo>
                    <a:pt x="17653" y="2287778"/>
                    <a:pt x="0" y="2270125"/>
                    <a:pt x="0" y="2248281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648470" y="7481068"/>
            <a:ext cx="247079" cy="960872"/>
            <a:chOff x="0" y="0"/>
            <a:chExt cx="329438" cy="12811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9438" cy="1281176"/>
            </a:xfrm>
            <a:custGeom>
              <a:avLst/>
              <a:gdLst/>
              <a:ahLst/>
              <a:cxnLst/>
              <a:rect r="r" b="b" t="t" l="l"/>
              <a:pathLst>
                <a:path h="1281176" w="329438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289941" y="0"/>
                  </a:lnTo>
                  <a:cubicBezTo>
                    <a:pt x="311785" y="0"/>
                    <a:pt x="329438" y="17653"/>
                    <a:pt x="329438" y="39497"/>
                  </a:cubicBezTo>
                  <a:lnTo>
                    <a:pt x="329438" y="1241679"/>
                  </a:lnTo>
                  <a:cubicBezTo>
                    <a:pt x="329438" y="1263523"/>
                    <a:pt x="311785" y="1281176"/>
                    <a:pt x="289941" y="1281176"/>
                  </a:cubicBezTo>
                  <a:lnTo>
                    <a:pt x="39497" y="1281176"/>
                  </a:lnTo>
                  <a:cubicBezTo>
                    <a:pt x="17653" y="1281176"/>
                    <a:pt x="0" y="1263523"/>
                    <a:pt x="0" y="1241679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128902" y="7275166"/>
            <a:ext cx="247079" cy="1372676"/>
            <a:chOff x="0" y="0"/>
            <a:chExt cx="329438" cy="1830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438" cy="1830197"/>
            </a:xfrm>
            <a:custGeom>
              <a:avLst/>
              <a:gdLst/>
              <a:ahLst/>
              <a:cxnLst/>
              <a:rect r="r" b="b" t="t" l="l"/>
              <a:pathLst>
                <a:path h="1830197" w="329438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289941" y="0"/>
                  </a:lnTo>
                  <a:cubicBezTo>
                    <a:pt x="311785" y="0"/>
                    <a:pt x="329438" y="17653"/>
                    <a:pt x="329438" y="39497"/>
                  </a:cubicBezTo>
                  <a:lnTo>
                    <a:pt x="329438" y="1790700"/>
                  </a:lnTo>
                  <a:cubicBezTo>
                    <a:pt x="329438" y="1812544"/>
                    <a:pt x="311785" y="1830197"/>
                    <a:pt x="289941" y="1830197"/>
                  </a:cubicBezTo>
                  <a:lnTo>
                    <a:pt x="39497" y="1830197"/>
                  </a:lnTo>
                  <a:cubicBezTo>
                    <a:pt x="17653" y="1830197"/>
                    <a:pt x="0" y="1812544"/>
                    <a:pt x="0" y="1790700"/>
                  </a:cubicBezTo>
                  <a:close/>
                </a:path>
              </a:pathLst>
            </a:custGeom>
            <a:solidFill>
              <a:srgbClr val="3CD2B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09333" y="7652652"/>
            <a:ext cx="247079" cy="617706"/>
            <a:chOff x="0" y="0"/>
            <a:chExt cx="329438" cy="823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438" cy="823595"/>
            </a:xfrm>
            <a:custGeom>
              <a:avLst/>
              <a:gdLst/>
              <a:ahLst/>
              <a:cxnLst/>
              <a:rect r="r" b="b" t="t" l="l"/>
              <a:pathLst>
                <a:path h="823595" w="329438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289941" y="0"/>
                  </a:lnTo>
                  <a:cubicBezTo>
                    <a:pt x="311785" y="0"/>
                    <a:pt x="329438" y="17653"/>
                    <a:pt x="329438" y="39497"/>
                  </a:cubicBezTo>
                  <a:lnTo>
                    <a:pt x="329438" y="784098"/>
                  </a:lnTo>
                  <a:cubicBezTo>
                    <a:pt x="329438" y="805942"/>
                    <a:pt x="311785" y="823595"/>
                    <a:pt x="289941" y="823595"/>
                  </a:cubicBezTo>
                  <a:lnTo>
                    <a:pt x="39497" y="823595"/>
                  </a:lnTo>
                  <a:cubicBezTo>
                    <a:pt x="17653" y="823595"/>
                    <a:pt x="0" y="805942"/>
                    <a:pt x="0" y="784098"/>
                  </a:cubicBezTo>
                  <a:close/>
                </a:path>
              </a:pathLst>
            </a:custGeom>
            <a:solidFill>
              <a:srgbClr val="FFC65C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DAHX_R-hyKw</dc:identifier>
  <dcterms:modified xsi:type="dcterms:W3CDTF">2011-08-01T06:04:30Z</dcterms:modified>
  <cp:revision>1</cp:revision>
  <dc:title>dbms mini project.pptx</dc:title>
</cp:coreProperties>
</file>